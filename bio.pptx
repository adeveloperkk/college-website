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7" r:id="rId6"/>
    <p:sldId id="262" r:id="rId7"/>
    <p:sldId id="263" r:id="rId8"/>
    <p:sldId id="264" r:id="rId9"/>
    <p:sldId id="269" r:id="rId10"/>
    <p:sldId id="265" r:id="rId11"/>
    <p:sldId id="266" r:id="rId12"/>
    <p:sldId id="271" r:id="rId13"/>
    <p:sldId id="268"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EB5025-DBFF-4E13-B51C-0E36BA090C87}" type="datetimeFigureOut">
              <a:rPr lang="en-US" smtClean="0"/>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EB5025-DBFF-4E13-B51C-0E36BA090C87}" type="datetimeFigureOut">
              <a:rPr lang="en-US" smtClean="0"/>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EB5025-DBFF-4E13-B51C-0E36BA090C87}" type="datetimeFigureOut">
              <a:rPr lang="en-US" smtClean="0"/>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EB5025-DBFF-4E13-B51C-0E36BA090C87}" type="datetimeFigureOut">
              <a:rPr lang="en-US" smtClean="0"/>
              <a:t>8/27/2020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6EB5025-DBFF-4E13-B51C-0E36BA090C87}" type="datetimeFigureOut">
              <a:rPr lang="en-US" smtClean="0"/>
              <a:t>8/27/2020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6EB5025-DBFF-4E13-B51C-0E36BA090C87}" type="datetimeFigureOut">
              <a:rPr lang="en-US" smtClean="0"/>
              <a:t>8/27/2020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EB5025-DBFF-4E13-B51C-0E36BA090C87}" type="datetimeFigureOut">
              <a:rPr lang="en-US" smtClean="0"/>
              <a:t>8/27/2020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EB5025-DBFF-4E13-B51C-0E36BA090C87}" type="datetimeFigureOut">
              <a:rPr lang="en-US" smtClean="0"/>
              <a:t>8/27/2020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EB5025-DBFF-4E13-B51C-0E36BA090C87}" type="datetimeFigureOut">
              <a:rPr lang="en-US" smtClean="0"/>
              <a:t>8/27/2020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EB5025-DBFF-4E13-B51C-0E36BA090C87}" type="datetimeFigureOut">
              <a:rPr lang="en-US" smtClean="0"/>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EB5025-DBFF-4E13-B51C-0E36BA090C87}" type="datetimeFigureOut">
              <a:rPr lang="en-US" smtClean="0"/>
              <a:t>8/27/2020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894B83-CA6C-46B5-902A-861C30073E5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EB5025-DBFF-4E13-B51C-0E36BA090C87}" type="datetimeFigureOut">
              <a:rPr lang="en-US" smtClean="0"/>
              <a:t>8/27/2020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894B83-CA6C-46B5-902A-861C30073E5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normAutofit/>
          </a:bodyPr>
          <a:lstStyle/>
          <a:p>
            <a:r>
              <a:rPr lang="en-US" dirty="0"/>
              <a:t>Prokaryotic cells are the simplest of most primitive cells. The records of microfossils suggest that they have evolved 2.5 billion years ago and existed as the only organisms on earth for the next one billion years until eukaryotes evolved about 1.5 billion years ago.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normAutofit lnSpcReduction="10000"/>
          </a:bodyPr>
          <a:lstStyle/>
          <a:p>
            <a:pPr fontAlgn="base"/>
            <a:r>
              <a:rPr lang="en-US" dirty="0"/>
              <a:t>The </a:t>
            </a:r>
            <a:r>
              <a:rPr lang="en-US" dirty="0" err="1"/>
              <a:t>ultrastructure</a:t>
            </a:r>
            <a:r>
              <a:rPr lang="en-US" dirty="0"/>
              <a:t> of a prokaryotic cell, particularly a typical bacterial cell consists of cell envelope, cytoplasm, </a:t>
            </a:r>
            <a:r>
              <a:rPr lang="en-US" dirty="0" err="1"/>
              <a:t>nucleoid</a:t>
            </a:r>
            <a:r>
              <a:rPr lang="en-US" dirty="0"/>
              <a:t>, plasmids and surface appendage.</a:t>
            </a:r>
          </a:p>
          <a:p>
            <a:pPr fontAlgn="base">
              <a:buNone/>
            </a:pPr>
            <a:r>
              <a:rPr lang="en-US" b="1" dirty="0"/>
              <a:t>1. Cell envelope:</a:t>
            </a:r>
          </a:p>
          <a:p>
            <a:pPr fontAlgn="base"/>
            <a:r>
              <a:rPr lang="en-US" dirty="0"/>
              <a:t>It is the protective covering of bacterial cell that has three basic layers: the outermost </a:t>
            </a:r>
            <a:r>
              <a:rPr lang="en-US" dirty="0" err="1"/>
              <a:t>glvcocalyx</a:t>
            </a:r>
            <a:r>
              <a:rPr lang="en-US" dirty="0"/>
              <a:t>, middle cell wall and innermost cell membrane (plasma membrane),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a:t>2. </a:t>
            </a:r>
            <a:r>
              <a:rPr lang="en-US" b="1" dirty="0" err="1" smtClean="0"/>
              <a:t>Cytoplasm:</a:t>
            </a:r>
            <a:r>
              <a:rPr lang="en-US" dirty="0" err="1"/>
              <a:t>It</a:t>
            </a:r>
            <a:r>
              <a:rPr lang="en-US" dirty="0"/>
              <a:t> is granular, </a:t>
            </a:r>
            <a:r>
              <a:rPr lang="en-US" dirty="0" err="1"/>
              <a:t>crystallo</a:t>
            </a:r>
            <a:r>
              <a:rPr lang="en-US" dirty="0"/>
              <a:t>-colloidal complex that fills the whole prokaryotic cell excluding </a:t>
            </a:r>
            <a:r>
              <a:rPr lang="en-US" dirty="0" err="1"/>
              <a:t>nucleoid</a:t>
            </a:r>
            <a:r>
              <a:rPr lang="en-US" dirty="0"/>
              <a:t>. The cytoplasm contains </a:t>
            </a:r>
            <a:r>
              <a:rPr lang="en-US" dirty="0" err="1"/>
              <a:t>mesosome</a:t>
            </a:r>
            <a:r>
              <a:rPr lang="en-US" dirty="0"/>
              <a:t>, </a:t>
            </a:r>
            <a:r>
              <a:rPr lang="en-US" dirty="0" err="1"/>
              <a:t>chromatophores</a:t>
            </a:r>
            <a:r>
              <a:rPr lang="en-US" dirty="0"/>
              <a:t>, </a:t>
            </a:r>
            <a:r>
              <a:rPr lang="en-US" dirty="0" err="1"/>
              <a:t>ribosomes</a:t>
            </a:r>
            <a:r>
              <a:rPr lang="en-US" dirty="0"/>
              <a:t>, inclusion bodies and plasmids</a:t>
            </a:r>
            <a:r>
              <a:rPr lang="en-US" dirty="0" smtClean="0"/>
              <a:t>.</a:t>
            </a:r>
          </a:p>
          <a:p>
            <a:pPr fontAlgn="base">
              <a:buNone/>
            </a:pPr>
            <a:r>
              <a:rPr lang="en-US" b="1" dirty="0"/>
              <a:t>(</a:t>
            </a:r>
            <a:r>
              <a:rPr lang="en-US" b="1" dirty="0" err="1"/>
              <a:t>i</a:t>
            </a:r>
            <a:r>
              <a:rPr lang="en-US" b="1" dirty="0"/>
              <a:t>) </a:t>
            </a:r>
            <a:r>
              <a:rPr lang="en-US" b="1" dirty="0" err="1"/>
              <a:t>Mesosome</a:t>
            </a:r>
            <a:r>
              <a:rPr lang="en-US" b="1" dirty="0"/>
              <a:t> (or </a:t>
            </a:r>
            <a:r>
              <a:rPr lang="en-US" b="1" dirty="0" err="1"/>
              <a:t>chondrioids</a:t>
            </a:r>
            <a:r>
              <a:rPr lang="en-US" b="1" dirty="0"/>
              <a:t>):</a:t>
            </a:r>
            <a:endParaRPr lang="en-US" dirty="0"/>
          </a:p>
          <a:p>
            <a:pPr fontAlgn="base"/>
            <a:r>
              <a:rPr lang="en-US" dirty="0"/>
              <a:t>It is a convoluted membranous </a:t>
            </a:r>
            <a:r>
              <a:rPr lang="en-US" dirty="0" err="1"/>
              <a:t>infolding</a:t>
            </a:r>
            <a:r>
              <a:rPr lang="en-US" dirty="0"/>
              <a:t> of the plasma membrane. </a:t>
            </a:r>
            <a:r>
              <a:rPr lang="en-US" dirty="0" err="1"/>
              <a:t>Mesosome</a:t>
            </a:r>
            <a:r>
              <a:rPr lang="en-US" dirty="0"/>
              <a:t> when connected with </a:t>
            </a:r>
            <a:r>
              <a:rPr lang="en-US" dirty="0" err="1"/>
              <a:t>nucleoid</a:t>
            </a:r>
            <a:r>
              <a:rPr lang="en-US" dirty="0"/>
              <a:t> is called </a:t>
            </a:r>
            <a:r>
              <a:rPr lang="en-US" dirty="0" err="1"/>
              <a:t>septal</a:t>
            </a:r>
            <a:r>
              <a:rPr lang="en-US" dirty="0"/>
              <a:t> </a:t>
            </a:r>
            <a:r>
              <a:rPr lang="en-US" dirty="0" err="1"/>
              <a:t>mesosome</a:t>
            </a:r>
            <a:r>
              <a:rPr lang="en-US" dirty="0"/>
              <a:t> and when not connected called lateral </a:t>
            </a:r>
            <a:r>
              <a:rPr lang="en-US" dirty="0" err="1"/>
              <a:t>mesosome</a:t>
            </a:r>
            <a:r>
              <a:rPr lang="en-US" dirty="0"/>
              <a:t>.</a:t>
            </a:r>
          </a:p>
          <a:p>
            <a:pPr>
              <a:buNone/>
            </a:pPr>
            <a:endParaRPr lang="en-US" b="1"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lstStyle/>
          <a:p>
            <a:r>
              <a:rPr lang="en-US" dirty="0" err="1"/>
              <a:t>Mesosome</a:t>
            </a:r>
            <a:r>
              <a:rPr lang="en-US" dirty="0"/>
              <a:t> can be considered analogous to mitochondria of eukaryotic cells as these are the sites of respiratory enzymes. Hence, </a:t>
            </a:r>
            <a:r>
              <a:rPr lang="en-US" dirty="0" err="1"/>
              <a:t>mososomes</a:t>
            </a:r>
            <a:r>
              <a:rPr lang="en-US" dirty="0"/>
              <a:t> are also called as “mitochondria of prokaryotic cells” or “bacterial mitochondria”.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jpg"/>
          <p:cNvPicPr>
            <a:picLocks noGrp="1" noChangeAspect="1"/>
          </p:cNvPicPr>
          <p:nvPr>
            <p:ph idx="4294967295"/>
          </p:nvPr>
        </p:nvPicPr>
        <p:blipFill>
          <a:blip r:embed="rId2"/>
          <a:stretch>
            <a:fillRect/>
          </a:stretch>
        </p:blipFill>
        <p:spPr>
          <a:xfrm>
            <a:off x="1142976" y="785794"/>
            <a:ext cx="7358114" cy="5143536"/>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normAutofit/>
          </a:bodyPr>
          <a:lstStyle/>
          <a:p>
            <a:pPr fontAlgn="base"/>
            <a:r>
              <a:rPr lang="en-US" b="1" dirty="0" err="1"/>
              <a:t>Ribosomes</a:t>
            </a:r>
            <a:r>
              <a:rPr lang="en-US" b="1" dirty="0"/>
              <a:t>:</a:t>
            </a:r>
            <a:endParaRPr lang="en-US" dirty="0"/>
          </a:p>
          <a:p>
            <a:pPr fontAlgn="base"/>
            <a:r>
              <a:rPr lang="en-US" dirty="0"/>
              <a:t>Prokaryotic </a:t>
            </a:r>
            <a:r>
              <a:rPr lang="en-US" dirty="0" err="1"/>
              <a:t>ribosomes</a:t>
            </a:r>
            <a:r>
              <a:rPr lang="en-US" dirty="0"/>
              <a:t> are 70S in nature that consist of larger 5OS and smaller 30S subunits. </a:t>
            </a:r>
            <a:r>
              <a:rPr lang="en-US" dirty="0" smtClean="0"/>
              <a:t>The </a:t>
            </a:r>
            <a:r>
              <a:rPr lang="en-US" dirty="0"/>
              <a:t>"</a:t>
            </a:r>
            <a:r>
              <a:rPr lang="en-US" b="1" dirty="0"/>
              <a:t>S</a:t>
            </a:r>
            <a:r>
              <a:rPr lang="en-US" dirty="0"/>
              <a:t>" stands for </a:t>
            </a:r>
            <a:r>
              <a:rPr lang="en-US" dirty="0" err="1"/>
              <a:t>svedbergs</a:t>
            </a:r>
            <a:r>
              <a:rPr lang="en-US" dirty="0"/>
              <a:t>, a unit used to measure how fast molecules move in a centrifuge.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lstStyle/>
          <a:p>
            <a:r>
              <a:rPr lang="en-US" b="1" dirty="0"/>
              <a:t>Inclusion </a:t>
            </a:r>
            <a:r>
              <a:rPr lang="en-US" b="1" dirty="0" err="1"/>
              <a:t>bodies:</a:t>
            </a:r>
            <a:r>
              <a:rPr lang="en-US" dirty="0" err="1" smtClean="0"/>
              <a:t>These</a:t>
            </a:r>
            <a:r>
              <a:rPr lang="en-US" dirty="0" smtClean="0"/>
              <a:t> </a:t>
            </a:r>
            <a:r>
              <a:rPr lang="en-US" dirty="0"/>
              <a:t>are non-living structures present freely in the cytoplasm. Inclusion bodies may be organic or inorganic. They include mainly food reserve and special prokaryotic organelles like gas vacuoles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normAutofit/>
          </a:bodyPr>
          <a:lstStyle/>
          <a:p>
            <a:pPr fontAlgn="base"/>
            <a:r>
              <a:rPr lang="en-US" b="1" dirty="0"/>
              <a:t>Plasmids:</a:t>
            </a:r>
            <a:endParaRPr lang="en-US" dirty="0"/>
          </a:p>
          <a:p>
            <a:pPr fontAlgn="base"/>
            <a:r>
              <a:rPr lang="en-US" dirty="0" smtClean="0"/>
              <a:t>the </a:t>
            </a:r>
            <a:r>
              <a:rPr lang="en-US" dirty="0"/>
              <a:t>term ‘plasmid’ to those ring-like self replicating extra chromosomal </a:t>
            </a:r>
            <a:r>
              <a:rPr lang="en-US" dirty="0" smtClean="0"/>
              <a:t>DNA </a:t>
            </a:r>
            <a:r>
              <a:rPr lang="en-US" dirty="0"/>
              <a:t>that are found in the cytoplasm of prokaryotes. </a:t>
            </a:r>
            <a:r>
              <a:rPr lang="en-US" dirty="0" smtClean="0"/>
              <a:t>Plasmids </a:t>
            </a:r>
            <a:r>
              <a:rPr lang="en-US" dirty="0"/>
              <a:t>are used as in ideal vector for indirect gene transfer in recombinant DNA technology (Genetic Engineering).</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3.jpg"/>
          <p:cNvPicPr>
            <a:picLocks noGrp="1" noChangeAspect="1"/>
          </p:cNvPicPr>
          <p:nvPr>
            <p:ph idx="4294967295"/>
          </p:nvPr>
        </p:nvPicPr>
        <p:blipFill>
          <a:blip r:embed="rId2"/>
          <a:stretch>
            <a:fillRect/>
          </a:stretch>
        </p:blipFill>
        <p:spPr>
          <a:xfrm>
            <a:off x="857224" y="928670"/>
            <a:ext cx="6908814" cy="4708531"/>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normAutofit/>
          </a:bodyPr>
          <a:lstStyle/>
          <a:p>
            <a:pPr fontAlgn="base">
              <a:buNone/>
            </a:pPr>
            <a:r>
              <a:rPr lang="en-US" b="1" dirty="0"/>
              <a:t>3. </a:t>
            </a:r>
            <a:r>
              <a:rPr lang="en-US" b="1" dirty="0" err="1" smtClean="0"/>
              <a:t>Nucleoid</a:t>
            </a:r>
            <a:r>
              <a:rPr lang="en-US" b="1" dirty="0" smtClean="0"/>
              <a:t> </a:t>
            </a:r>
            <a:r>
              <a:rPr lang="en-US" dirty="0" err="1" smtClean="0"/>
              <a:t>Nucleoid</a:t>
            </a:r>
            <a:r>
              <a:rPr lang="en-US" dirty="0" smtClean="0"/>
              <a:t> </a:t>
            </a:r>
            <a:r>
              <a:rPr lang="en-US" dirty="0"/>
              <a:t>is the genetic material of a prokaryotic cell that occupies up to 1/5 of the interior of the bacterial cell. It is represented by a single circular naked </a:t>
            </a:r>
            <a:r>
              <a:rPr lang="en-US" dirty="0" smtClean="0"/>
              <a:t>DNA </a:t>
            </a:r>
            <a:r>
              <a:rPr lang="en-US" dirty="0"/>
              <a:t>which is highly looped and super </a:t>
            </a:r>
            <a:r>
              <a:rPr lang="en-US" dirty="0" smtClean="0"/>
              <a:t>coiled. </a:t>
            </a:r>
            <a:r>
              <a:rPr lang="en-US" dirty="0" err="1"/>
              <a:t>Nucleoid</a:t>
            </a:r>
            <a:r>
              <a:rPr lang="en-US" dirty="0"/>
              <a:t> is a compact structure hat nuclear envelope and </a:t>
            </a:r>
            <a:r>
              <a:rPr lang="en-US" dirty="0" smtClean="0"/>
              <a:t>nucleolus.</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PROKARYOTIC CELL</a:t>
            </a:r>
            <a:endParaRPr lang="en-US" dirty="0"/>
          </a:p>
        </p:txBody>
      </p:sp>
      <p:sp>
        <p:nvSpPr>
          <p:cNvPr id="3" name="Content Placeholder 2"/>
          <p:cNvSpPr>
            <a:spLocks noGrp="1"/>
          </p:cNvSpPr>
          <p:nvPr>
            <p:ph idx="1"/>
          </p:nvPr>
        </p:nvSpPr>
        <p:spPr/>
        <p:txBody>
          <a:bodyPr/>
          <a:lstStyle/>
          <a:p>
            <a:pPr fontAlgn="base"/>
            <a:r>
              <a:rPr lang="en-US" b="1" dirty="0"/>
              <a:t>4. Appendages:</a:t>
            </a:r>
          </a:p>
          <a:p>
            <a:pPr fontAlgn="base"/>
            <a:r>
              <a:rPr lang="en-US" dirty="0"/>
              <a:t>The surface appendages present on bacterial cell may be motile flagellum or non-motile </a:t>
            </a:r>
            <a:r>
              <a:rPr lang="en-US" dirty="0" err="1"/>
              <a:t>pili</a:t>
            </a:r>
            <a:r>
              <a:rPr lang="en-US" dirty="0"/>
              <a:t> and </a:t>
            </a:r>
            <a:r>
              <a:rPr lang="en-US" dirty="0" err="1"/>
              <a:t>fimbriae</a:t>
            </a:r>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6.jpg"/>
          <p:cNvPicPr>
            <a:picLocks noGrp="1" noChangeAspect="1"/>
          </p:cNvPicPr>
          <p:nvPr>
            <p:ph idx="4294967295"/>
          </p:nvPr>
        </p:nvPicPr>
        <p:blipFill>
          <a:blip r:embed="rId2"/>
          <a:stretch>
            <a:fillRect/>
          </a:stretch>
        </p:blipFill>
        <p:spPr>
          <a:xfrm>
            <a:off x="500034" y="500042"/>
            <a:ext cx="8143932" cy="5597533"/>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4.jpg"/>
          <p:cNvPicPr>
            <a:picLocks noGrp="1" noChangeAspect="1"/>
          </p:cNvPicPr>
          <p:nvPr>
            <p:ph idx="4294967295"/>
          </p:nvPr>
        </p:nvPicPr>
        <p:blipFill>
          <a:blip r:embed="rId2"/>
          <a:stretch>
            <a:fillRect/>
          </a:stretch>
        </p:blipFill>
        <p:spPr>
          <a:xfrm>
            <a:off x="714348" y="500042"/>
            <a:ext cx="7929618" cy="5786478"/>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jpg"/>
          <p:cNvPicPr>
            <a:picLocks noChangeAspect="1"/>
          </p:cNvPicPr>
          <p:nvPr/>
        </p:nvPicPr>
        <p:blipFill>
          <a:blip r:embed="rId2"/>
          <a:stretch>
            <a:fillRect/>
          </a:stretch>
        </p:blipFill>
        <p:spPr>
          <a:xfrm>
            <a:off x="214282" y="857250"/>
            <a:ext cx="8715436"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345</Words>
  <Application>Microsoft Office PowerPoint</Application>
  <PresentationFormat>On-screen Show (4:3)</PresentationFormat>
  <Paragraphs>25</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PROKARYOTIC CELL</vt:lpstr>
      <vt:lpstr>PROKARYOTIC CELL</vt:lpstr>
      <vt:lpstr>PROKARYOTIC CELL</vt:lpstr>
      <vt:lpstr>PROKARYOTIC CELL</vt:lpstr>
      <vt:lpstr>Slide 5</vt:lpstr>
      <vt:lpstr>PROKARYOTIC CELL</vt:lpstr>
      <vt:lpstr>PROKARYOTIC CELL</vt:lpstr>
      <vt:lpstr>PROKARYOTIC CELL</vt:lpstr>
      <vt:lpstr>Slide 9</vt:lpstr>
      <vt:lpstr>PROKARYOTIC CELL</vt:lpstr>
      <vt:lpstr>PROKARYOTIC CELL</vt:lpstr>
      <vt:lpstr>Slide 12</vt:lpstr>
      <vt:lpstr>Slide 13</vt:lpstr>
      <vt:lpstr>Slide 14</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PROKARYOTIC CELL</dc:title>
  <dc:creator>harsha</dc:creator>
  <cp:lastModifiedBy>harsha</cp:lastModifiedBy>
  <cp:revision>5</cp:revision>
  <dcterms:created xsi:type="dcterms:W3CDTF">2020-08-27T13:54:33Z</dcterms:created>
  <dcterms:modified xsi:type="dcterms:W3CDTF">2020-08-27T14:29:53Z</dcterms:modified>
</cp:coreProperties>
</file>