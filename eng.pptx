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36"/>
  </p:notesMasterIdLst>
  <p:handoutMasterIdLst>
    <p:handoutMasterId r:id="rId37"/>
  </p:handoutMasterIdLst>
  <p:sldIdLst>
    <p:sldId id="347" r:id="rId3"/>
    <p:sldId id="312" r:id="rId4"/>
    <p:sldId id="311" r:id="rId5"/>
    <p:sldId id="290" r:id="rId6"/>
    <p:sldId id="358" r:id="rId7"/>
    <p:sldId id="346" r:id="rId8"/>
    <p:sldId id="326" r:id="rId9"/>
    <p:sldId id="337" r:id="rId10"/>
    <p:sldId id="291" r:id="rId11"/>
    <p:sldId id="351" r:id="rId12"/>
    <p:sldId id="355" r:id="rId13"/>
    <p:sldId id="327" r:id="rId14"/>
    <p:sldId id="354" r:id="rId15"/>
    <p:sldId id="293" r:id="rId16"/>
    <p:sldId id="330" r:id="rId17"/>
    <p:sldId id="338" r:id="rId18"/>
    <p:sldId id="339" r:id="rId19"/>
    <p:sldId id="340" r:id="rId20"/>
    <p:sldId id="341" r:id="rId21"/>
    <p:sldId id="296" r:id="rId22"/>
    <p:sldId id="343" r:id="rId23"/>
    <p:sldId id="344" r:id="rId24"/>
    <p:sldId id="329" r:id="rId25"/>
    <p:sldId id="342" r:id="rId26"/>
    <p:sldId id="352" r:id="rId27"/>
    <p:sldId id="353" r:id="rId28"/>
    <p:sldId id="332" r:id="rId29"/>
    <p:sldId id="333" r:id="rId30"/>
    <p:sldId id="334" r:id="rId31"/>
    <p:sldId id="345" r:id="rId32"/>
    <p:sldId id="323" r:id="rId33"/>
    <p:sldId id="284" r:id="rId34"/>
    <p:sldId id="27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15" autoAdjust="0"/>
    <p:restoredTop sz="94660"/>
  </p:normalViewPr>
  <p:slideViewPr>
    <p:cSldViewPr snapToGrid="0">
      <p:cViewPr varScale="1">
        <p:scale>
          <a:sx n="72" d="100"/>
          <a:sy n="72" d="100"/>
        </p:scale>
        <p:origin x="63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 /><Relationship Id="rId13" Type="http://schemas.openxmlformats.org/officeDocument/2006/relationships/slide" Target="slides/slide11.xml" /><Relationship Id="rId18" Type="http://schemas.openxmlformats.org/officeDocument/2006/relationships/slide" Target="slides/slide16.xml" /><Relationship Id="rId26" Type="http://schemas.openxmlformats.org/officeDocument/2006/relationships/slide" Target="slides/slide24.xml" /><Relationship Id="rId39" Type="http://schemas.openxmlformats.org/officeDocument/2006/relationships/viewProps" Target="viewProps.xml" /><Relationship Id="rId3" Type="http://schemas.openxmlformats.org/officeDocument/2006/relationships/slide" Target="slides/slide1.xml" /><Relationship Id="rId21" Type="http://schemas.openxmlformats.org/officeDocument/2006/relationships/slide" Target="slides/slide19.xml" /><Relationship Id="rId34" Type="http://schemas.openxmlformats.org/officeDocument/2006/relationships/slide" Target="slides/slide32.xml" /><Relationship Id="rId7" Type="http://schemas.openxmlformats.org/officeDocument/2006/relationships/slide" Target="slides/slide5.xml" /><Relationship Id="rId12" Type="http://schemas.openxmlformats.org/officeDocument/2006/relationships/slide" Target="slides/slide10.xml" /><Relationship Id="rId17" Type="http://schemas.openxmlformats.org/officeDocument/2006/relationships/slide" Target="slides/slide15.xml" /><Relationship Id="rId25" Type="http://schemas.openxmlformats.org/officeDocument/2006/relationships/slide" Target="slides/slide23.xml" /><Relationship Id="rId33" Type="http://schemas.openxmlformats.org/officeDocument/2006/relationships/slide" Target="slides/slide31.xml" /><Relationship Id="rId38" Type="http://schemas.openxmlformats.org/officeDocument/2006/relationships/presProps" Target="presProps.xml" /><Relationship Id="rId2" Type="http://schemas.openxmlformats.org/officeDocument/2006/relationships/slideMaster" Target="slideMasters/slideMaster2.xml" /><Relationship Id="rId16" Type="http://schemas.openxmlformats.org/officeDocument/2006/relationships/slide" Target="slides/slide14.xml" /><Relationship Id="rId20" Type="http://schemas.openxmlformats.org/officeDocument/2006/relationships/slide" Target="slides/slide18.xml" /><Relationship Id="rId29" Type="http://schemas.openxmlformats.org/officeDocument/2006/relationships/slide" Target="slides/slide27.xml" /><Relationship Id="rId41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4.xml" /><Relationship Id="rId11" Type="http://schemas.openxmlformats.org/officeDocument/2006/relationships/slide" Target="slides/slide9.xml" /><Relationship Id="rId24" Type="http://schemas.openxmlformats.org/officeDocument/2006/relationships/slide" Target="slides/slide22.xml" /><Relationship Id="rId32" Type="http://schemas.openxmlformats.org/officeDocument/2006/relationships/slide" Target="slides/slide30.xml" /><Relationship Id="rId37" Type="http://schemas.openxmlformats.org/officeDocument/2006/relationships/handoutMaster" Target="handoutMasters/handoutMaster1.xml" /><Relationship Id="rId40" Type="http://schemas.openxmlformats.org/officeDocument/2006/relationships/theme" Target="theme/theme1.xml" /><Relationship Id="rId5" Type="http://schemas.openxmlformats.org/officeDocument/2006/relationships/slide" Target="slides/slide3.xml" /><Relationship Id="rId15" Type="http://schemas.openxmlformats.org/officeDocument/2006/relationships/slide" Target="slides/slide13.xml" /><Relationship Id="rId23" Type="http://schemas.openxmlformats.org/officeDocument/2006/relationships/slide" Target="slides/slide21.xml" /><Relationship Id="rId28" Type="http://schemas.openxmlformats.org/officeDocument/2006/relationships/slide" Target="slides/slide26.xml" /><Relationship Id="rId36" Type="http://schemas.openxmlformats.org/officeDocument/2006/relationships/notesMaster" Target="notesMasters/notesMaster1.xml" /><Relationship Id="rId10" Type="http://schemas.openxmlformats.org/officeDocument/2006/relationships/slide" Target="slides/slide8.xml" /><Relationship Id="rId19" Type="http://schemas.openxmlformats.org/officeDocument/2006/relationships/slide" Target="slides/slide17.xml" /><Relationship Id="rId31" Type="http://schemas.openxmlformats.org/officeDocument/2006/relationships/slide" Target="slides/slide29.xml" /><Relationship Id="rId4" Type="http://schemas.openxmlformats.org/officeDocument/2006/relationships/slide" Target="slides/slide2.xml" /><Relationship Id="rId9" Type="http://schemas.openxmlformats.org/officeDocument/2006/relationships/slide" Target="slides/slide7.xml" /><Relationship Id="rId14" Type="http://schemas.openxmlformats.org/officeDocument/2006/relationships/slide" Target="slides/slide12.xml" /><Relationship Id="rId22" Type="http://schemas.openxmlformats.org/officeDocument/2006/relationships/slide" Target="slides/slide20.xml" /><Relationship Id="rId27" Type="http://schemas.openxmlformats.org/officeDocument/2006/relationships/slide" Target="slides/slide25.xml" /><Relationship Id="rId30" Type="http://schemas.openxmlformats.org/officeDocument/2006/relationships/slide" Target="slides/slide28.xml" /><Relationship Id="rId35" Type="http://schemas.openxmlformats.org/officeDocument/2006/relationships/slide" Target="slides/slide33.xml" 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 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4/27/2021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4/27/2021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9476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www.google.com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url?sa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i&amp;url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=https%3A%2F%2Fsloanreview.mit.edu%2Farticle%2Ffive-ways-to-improve-communication-in-virtual-teams%2F&amp;psig=AOvVaw0TTElm7CjMaUyvrnZ7z0V9&amp;ust=1591773620787000&amp;source=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images&amp;cd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vfe&amp;ved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=0CAIQjRxqFwoTCKi454SZ9OkCFQAAAAAdAAAAABAO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234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Master" Target="../slideMasters/slideMaster2.xml" 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2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2.xml" 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2.xml" 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image" Target="../media/image1.png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theme" Target="../theme/theme1.xml" 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 /><Relationship Id="rId13" Type="http://schemas.openxmlformats.org/officeDocument/2006/relationships/slideLayout" Target="../slideLayouts/slideLayout26.xml" /><Relationship Id="rId3" Type="http://schemas.openxmlformats.org/officeDocument/2006/relationships/slideLayout" Target="../slideLayouts/slideLayout16.xml" /><Relationship Id="rId7" Type="http://schemas.openxmlformats.org/officeDocument/2006/relationships/slideLayout" Target="../slideLayouts/slideLayout20.xml" /><Relationship Id="rId12" Type="http://schemas.openxmlformats.org/officeDocument/2006/relationships/slideLayout" Target="../slideLayouts/slideLayout25.xml" /><Relationship Id="rId2" Type="http://schemas.openxmlformats.org/officeDocument/2006/relationships/slideLayout" Target="../slideLayouts/slideLayout15.xml" /><Relationship Id="rId1" Type="http://schemas.openxmlformats.org/officeDocument/2006/relationships/slideLayout" Target="../slideLayouts/slideLayout14.xml" /><Relationship Id="rId6" Type="http://schemas.openxmlformats.org/officeDocument/2006/relationships/slideLayout" Target="../slideLayouts/slideLayout19.xml" /><Relationship Id="rId11" Type="http://schemas.openxmlformats.org/officeDocument/2006/relationships/slideLayout" Target="../slideLayouts/slideLayout24.xml" /><Relationship Id="rId5" Type="http://schemas.openxmlformats.org/officeDocument/2006/relationships/slideLayout" Target="../slideLayouts/slideLayout18.xml" /><Relationship Id="rId15" Type="http://schemas.openxmlformats.org/officeDocument/2006/relationships/theme" Target="../theme/theme2.xml" /><Relationship Id="rId10" Type="http://schemas.openxmlformats.org/officeDocument/2006/relationships/slideLayout" Target="../slideLayouts/slideLayout23.xml" /><Relationship Id="rId4" Type="http://schemas.openxmlformats.org/officeDocument/2006/relationships/slideLayout" Target="../slideLayouts/slideLayout17.xml" /><Relationship Id="rId9" Type="http://schemas.openxmlformats.org/officeDocument/2006/relationships/slideLayout" Target="../slideLayouts/slideLayout22.xml" /><Relationship Id="rId14" Type="http://schemas.openxmlformats.org/officeDocument/2006/relationships/slideLayout" Target="../slideLayouts/slideLayout27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 /><Relationship Id="rId7" Type="http://schemas.microsoft.com/office/2007/relationships/hdphoto" Target="../media/hdphoto1.wdp" /><Relationship Id="rId2" Type="http://schemas.openxmlformats.org/officeDocument/2006/relationships/slideLayout" Target="../slideLayouts/slideLayout2.xml" /><Relationship Id="rId1" Type="http://schemas.openxmlformats.org/officeDocument/2006/relationships/vmlDrawing" Target="../drawings/vmlDrawing1.vml" /><Relationship Id="rId6" Type="http://schemas.openxmlformats.org/officeDocument/2006/relationships/image" Target="../media/image7.png" /><Relationship Id="rId5" Type="http://schemas.openxmlformats.org/officeDocument/2006/relationships/image" Target="../media/image6.emf" /><Relationship Id="rId4" Type="http://schemas.openxmlformats.org/officeDocument/2006/relationships/oleObject" Target="../embeddings/oleObject1.bin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8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owl.english.purdue.edu/media/ppt/20071017015442_698.ppt" TargetMode="External" /><Relationship Id="rId2" Type="http://schemas.openxmlformats.org/officeDocument/2006/relationships/hyperlink" Target="http://www.careerplacejobs.com/cbo/CoverLetter.ppt" TargetMode="External" /><Relationship Id="rId1" Type="http://schemas.openxmlformats.org/officeDocument/2006/relationships/slideLayout" Target="../slideLayouts/slideLayout2.xml" /><Relationship Id="rId5" Type="http://schemas.openxmlformats.org/officeDocument/2006/relationships/hyperlink" Target="https://umich.instructure.com/files/5096010/download?download_frd=1" TargetMode="External" /><Relationship Id="rId4" Type="http://schemas.openxmlformats.org/officeDocument/2006/relationships/hyperlink" Target="https://www.saultcollege.ca/Services/.../Powerpoints/Cover%20Letter%20Writing.ppsx" TargetMode="External" 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 /><Relationship Id="rId2" Type="http://schemas.openxmlformats.org/officeDocument/2006/relationships/slideLayout" Target="../slideLayouts/slideLayout13.xml" /><Relationship Id="rId1" Type="http://schemas.openxmlformats.org/officeDocument/2006/relationships/vmlDrawing" Target="../drawings/vmlDrawing2.vml" /><Relationship Id="rId4" Type="http://schemas.openxmlformats.org/officeDocument/2006/relationships/image" Target="../media/image6.emf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CorelDRAW" r:id="rId4" imgW="2169000" imgH="2169360" progId="">
                  <p:embed/>
                </p:oleObj>
              </mc:Choice>
              <mc:Fallback>
                <p:oleObj name="CorelDRAW" r:id="rId4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55050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230349" y="5948841"/>
            <a:ext cx="3714633" cy="87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COVER LETTER</a:t>
            </a: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956603" y="1661160"/>
            <a:ext cx="10142805" cy="4555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marL="0" marR="0" lvl="0" indent="0" algn="ctr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University Institute of Engineering</a:t>
            </a:r>
          </a:p>
          <a:p>
            <a:pPr marL="0" marR="0" lvl="0" indent="0" algn="ctr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Name- Professional Communication Skills</a:t>
            </a:r>
          </a:p>
          <a:p>
            <a:pPr marL="0" marR="0" lvl="0" indent="0" algn="ctr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Code- 20PCT-154</a:t>
            </a:r>
          </a:p>
          <a:p>
            <a:pPr marL="0" marR="0" lvl="0" indent="0" algn="ctr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Faculty Name- </a:t>
            </a:r>
            <a:r>
              <a:rPr lang="en-US" sz="3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Mr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Vishal Monga</a:t>
            </a:r>
            <a:endParaRPr lang="en-US" sz="3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4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4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20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66566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331"/>
    </mc:Choice>
    <mc:Fallback xmlns="">
      <p:transition spd="slow" advTm="1933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156142" y="518583"/>
            <a:ext cx="7810818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Arial Black" pitchFamily="34" charset="0"/>
                <a:ea typeface="Karla" pitchFamily="2" charset="0"/>
                <a:cs typeface="Karla" pitchFamily="2" charset="0"/>
              </a:rPr>
              <a:t>Course Objectives</a:t>
            </a:r>
            <a:br>
              <a:rPr lang="en-US" sz="4400" b="1" dirty="0">
                <a:latin typeface="Arial Black" pitchFamily="34" charset="0"/>
                <a:ea typeface="Karla" pitchFamily="2" charset="0"/>
                <a:cs typeface="Karla" pitchFamily="2" charset="0"/>
              </a:rPr>
            </a:br>
            <a:endParaRPr lang="en-US" sz="4400" dirty="0">
              <a:latin typeface="Arial Black" pitchFamily="34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37133" y="1520492"/>
            <a:ext cx="29562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The Course aims to: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69ABB42-BCE2-4581-A12F-09FF877C7638}"/>
              </a:ext>
            </a:extLst>
          </p:cNvPr>
          <p:cNvGraphicFramePr>
            <a:graphicFrameLocks noGrp="1"/>
          </p:cNvGraphicFramePr>
          <p:nvPr/>
        </p:nvGraphicFramePr>
        <p:xfrm>
          <a:off x="660698" y="2148839"/>
          <a:ext cx="10403542" cy="43727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372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306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8430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Stress on students awareness of interpersonal communication skills and appropriate usage of verbal and non-verbal expression in social and professional environment.</a:t>
                      </a:r>
                      <a:endParaRPr lang="en-IN" sz="2400" b="0" i="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430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Times New Roman" panose="02020603050405020304" pitchFamily="18" charset="0"/>
                          <a:cs typeface="Arial" pitchFamily="34" charset="0"/>
                        </a:rPr>
                        <a:t>Prepare the student for discourse in English, using a number of communication strategies.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43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Times New Roman" panose="02020603050405020304" pitchFamily="18" charset="0"/>
                          <a:cs typeface="Arial" pitchFamily="34" charset="0"/>
                        </a:rPr>
                        <a:t>Introduce them to key concepts of Morality, Diversity &amp; Inclusion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8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Times New Roman" panose="02020603050405020304" pitchFamily="18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Times New Roman" panose="02020603050405020304" pitchFamily="18" charset="0"/>
                          <a:cs typeface="Arial" pitchFamily="34" charset="0"/>
                        </a:rPr>
                        <a:t>Provide foundations for the placement process of the student.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4244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75"/>
    </mc:Choice>
    <mc:Fallback xmlns="">
      <p:transition spd="slow" advTm="347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7520" y="1310640"/>
            <a:ext cx="4335779" cy="459168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12696" y="6353174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170818" y="503514"/>
            <a:ext cx="4686618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Arial Black" pitchFamily="34" charset="0"/>
                <a:ea typeface="Karla" pitchFamily="2" charset="0"/>
                <a:cs typeface="Arial" panose="020B0604020202020204" pitchFamily="34" charset="0"/>
              </a:rPr>
              <a:t>Course Outcomes</a:t>
            </a:r>
            <a:endParaRPr lang="en-US" sz="1600" dirty="0">
              <a:latin typeface="Arial Black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751319" y="503514"/>
            <a:ext cx="4488179" cy="55315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66110" y="2023650"/>
            <a:ext cx="42146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rial" pitchFamily="34" charset="0"/>
                <a:cs typeface="Arial" pitchFamily="34" charset="0"/>
              </a:rPr>
              <a:t>On completion, the students are expected to</a:t>
            </a:r>
            <a:endParaRPr lang="en-US" sz="1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F26C4B-ADDA-5543-975D-B07E57B84339}"/>
              </a:ext>
            </a:extLst>
          </p:cNvPr>
          <p:cNvSpPr txBox="1"/>
          <p:nvPr/>
        </p:nvSpPr>
        <p:spPr>
          <a:xfrm>
            <a:off x="7688094" y="6271590"/>
            <a:ext cx="32714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https://www.pertemps.co.uk/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026" name="AutoShape 2" descr="How to Write a Compelling Cover Letter for a Job | Mone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9028" name="AutoShape 4" descr="How to Write a Compelling Cover Letter for a Job | Mone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4D8FA22-F3BF-4A19-ADBD-8F245D3239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443521"/>
              </p:ext>
            </p:extLst>
          </p:nvPr>
        </p:nvGraphicFramePr>
        <p:xfrm>
          <a:off x="249218" y="2547680"/>
          <a:ext cx="6396221" cy="399638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65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4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6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85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 Number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Level 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9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CO1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Evaluate facts to write research and short official, technical or social reports.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Evaluate 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6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CO2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Create communication material for an organization dedicated to a social cause and use electronic/social media to share concepts and ideas.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Create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6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CO3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Analyse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and summarize information, ideas and opinions on a social issue using grammatically correct English.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Analyse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88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CO4</a:t>
                      </a:r>
                      <a:endParaRPr lang="en-US" sz="14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Perform effectively in the placement process.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Apply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98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Display moral values, ethics and sensitivity for diversity and inclusion.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Apply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4" name="Picture 5" descr="C:\Users\Leader\Desktop\coveringletter-3.jpg">
            <a:extLst>
              <a:ext uri="{FF2B5EF4-FFF2-40B4-BE49-F238E27FC236}">
                <a16:creationId xmlns:a16="http://schemas.microsoft.com/office/drawing/2014/main" id="{F0A81FC2-E628-4AEB-A302-2AB8A7DBC2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58396" y="499110"/>
            <a:ext cx="4501788" cy="556205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43787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99"/>
    </mc:Choice>
    <mc:Fallback xmlns="">
      <p:transition spd="slow" advTm="359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</a:rPr>
              <a:t>Cover Letter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Sent with applicant’s resume to provide additional information on his/her skills and experience.</a:t>
            </a:r>
          </a:p>
          <a:p>
            <a:pP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 The letter typically provides detailed information on why an applicant is qualified for the job. </a:t>
            </a:r>
          </a:p>
          <a:p>
            <a:pP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A cover letter typically accompanies a resume.</a:t>
            </a:r>
          </a:p>
          <a:p>
            <a:pP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Employers use cover letters as a way to screen applicants for available jobs and to determine which candidates they would like to interview. </a:t>
            </a:r>
          </a:p>
          <a:p>
            <a:pPr>
              <a:defRPr/>
            </a:pPr>
            <a:endParaRPr lang="en-IN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4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Arial Black" pitchFamily="34" charset="0"/>
              </a:rPr>
              <a:t>When is a cover letter necessary?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  <a:defRPr/>
            </a:pPr>
            <a:r>
              <a:rPr lang="en-IN" b="1" dirty="0">
                <a:latin typeface="Arial" pitchFamily="34" charset="0"/>
                <a:cs typeface="Arial" pitchFamily="34" charset="0"/>
              </a:rPr>
              <a:t>A cover letter is important and required </a:t>
            </a:r>
          </a:p>
          <a:p>
            <a:pP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If the job offer requires a cover letter, </a:t>
            </a:r>
          </a:p>
          <a:p>
            <a:pP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If the employer, hiring manager, or recruiter requests one, </a:t>
            </a:r>
          </a:p>
          <a:p>
            <a:pP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If you’re applying directly to a person and know their name, </a:t>
            </a:r>
          </a:p>
          <a:p>
            <a:pP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If someone has referred you for the position.</a:t>
            </a:r>
          </a:p>
          <a:p>
            <a:pPr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None/>
              <a:defRPr/>
            </a:pPr>
            <a:r>
              <a:rPr lang="en-IN" b="1" dirty="0">
                <a:latin typeface="Arial" pitchFamily="34" charset="0"/>
                <a:cs typeface="Arial" pitchFamily="34" charset="0"/>
              </a:rPr>
              <a:t>Note: Cover letters aren’t always necessary. For example, you might not need a cover letter if you’re applying online.</a:t>
            </a:r>
          </a:p>
          <a:p>
            <a:pPr>
              <a:defRPr/>
            </a:pPr>
            <a:endParaRPr lang="en-IN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4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</a:rPr>
              <a:t>Resume Vs Cover Letter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</p:nvPr>
        </p:nvGraphicFramePr>
        <p:xfrm>
          <a:off x="2560320" y="2648593"/>
          <a:ext cx="7341326" cy="2651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670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0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238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itchFamily="34" charset="0"/>
                          <a:cs typeface="Arial" pitchFamily="34" charset="0"/>
                        </a:rPr>
                        <a:t>RESUME is about YOU…</a:t>
                      </a:r>
                    </a:p>
                    <a:p>
                      <a:endParaRPr lang="en-IN" sz="28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b="1" dirty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COVER LETTER is about THEM and WHY you make a good match!</a:t>
                      </a:r>
                      <a:br>
                        <a:rPr lang="en-IN" sz="2800" b="1" dirty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</a:br>
                      <a:endParaRPr lang="en-IN" sz="28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endParaRPr lang="en-IN" sz="28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884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latin typeface="Arial Black" pitchFamily="34" charset="0"/>
              </a:rPr>
              <a:t>Purpose of a Cover Letter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It formally introduces you, and can personalize the presentation of your resume.</a:t>
            </a:r>
          </a:p>
          <a:p>
            <a:pP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It highlights specific information from your resume and from your background that applies to a specific field or position. It can also give reader insight to items not addressed in a resume.</a:t>
            </a:r>
          </a:p>
          <a:p>
            <a:pP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It helps to facilitate a meeting between you and the employer.</a:t>
            </a:r>
          </a:p>
          <a:p>
            <a:pP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Provides a sample of your written communication 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4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Autofit/>
          </a:bodyPr>
          <a:lstStyle/>
          <a:p>
            <a:pPr algn="ctr"/>
            <a:r>
              <a:rPr lang="en-IN" dirty="0">
                <a:latin typeface="Arial Black" pitchFamily="34" charset="0"/>
              </a:rPr>
              <a:t>Purpose of a Cover Letter (Cont’d)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5954" name="Picture 2"/>
          <p:cNvPicPr>
            <a:picLocks noChangeAspect="1" noChangeArrowheads="1"/>
          </p:cNvPicPr>
          <p:nvPr/>
        </p:nvPicPr>
        <p:blipFill>
          <a:blip r:embed="rId2"/>
          <a:srcRect l="57327" t="38929" r="23798" b="18036"/>
          <a:stretch>
            <a:fillRect/>
          </a:stretch>
        </p:blipFill>
        <p:spPr bwMode="auto">
          <a:xfrm>
            <a:off x="6191795" y="1854925"/>
            <a:ext cx="3357154" cy="4114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2625633"/>
            <a:ext cx="4569823" cy="3551329"/>
          </a:xfrm>
        </p:spPr>
        <p:txBody>
          <a:bodyPr/>
          <a:lstStyle/>
          <a:p>
            <a:r>
              <a:rPr lang="en-IN" dirty="0">
                <a:latin typeface="Arial" pitchFamily="34" charset="0"/>
                <a:cs typeface="Arial" pitchFamily="34" charset="0"/>
              </a:rPr>
              <a:t>Your goal as a job candidate is to prove you are what the employer is looking for.</a:t>
            </a:r>
          </a:p>
          <a:p>
            <a:endParaRPr lang="en-IN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84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9086" y="360361"/>
            <a:ext cx="10515600" cy="1279527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Arial Black" pitchFamily="34" charset="0"/>
              </a:rPr>
              <a:t>Tips for Creating a Powerful Cover Letter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Autofit/>
          </a:bodyPr>
          <a:lstStyle/>
          <a:p>
            <a:pPr>
              <a:lnSpc>
                <a:spcPct val="100000"/>
              </a:lnSpc>
              <a:buClr>
                <a:schemeClr val="folHlink"/>
              </a:buCl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Send an original letter </a:t>
            </a:r>
          </a:p>
          <a:p>
            <a:pPr>
              <a:lnSpc>
                <a:spcPct val="100000"/>
              </a:lnSpc>
              <a:buClr>
                <a:schemeClr val="folHlink"/>
              </a:buCl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Keep it short, specific and to the point.</a:t>
            </a:r>
          </a:p>
          <a:p>
            <a:pPr>
              <a:lnSpc>
                <a:spcPct val="100000"/>
              </a:lnSpc>
              <a:buClr>
                <a:schemeClr val="folHlink"/>
              </a:buCl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State the job title</a:t>
            </a:r>
          </a:p>
          <a:p>
            <a:pPr>
              <a:lnSpc>
                <a:spcPct val="100000"/>
              </a:lnSpc>
              <a:buClr>
                <a:schemeClr val="folHlink"/>
              </a:buCl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Explain why you want this job</a:t>
            </a:r>
          </a:p>
          <a:p>
            <a:pPr>
              <a:lnSpc>
                <a:spcPct val="100000"/>
              </a:lnSpc>
              <a:buClr>
                <a:schemeClr val="folHlink"/>
              </a:buCl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NOT to “make money”</a:t>
            </a:r>
          </a:p>
          <a:p>
            <a:pPr>
              <a:lnSpc>
                <a:spcPct val="100000"/>
              </a:lnSpc>
              <a:buClr>
                <a:schemeClr val="folHlink"/>
              </a:buCl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Describe specific ways you will contribute</a:t>
            </a:r>
          </a:p>
          <a:p>
            <a:pPr>
              <a:lnSpc>
                <a:spcPct val="100000"/>
              </a:lnSpc>
              <a:buClr>
                <a:schemeClr val="folHlink"/>
              </a:buCl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Refer to, but don’t repeat, your resume</a:t>
            </a:r>
          </a:p>
          <a:p>
            <a:pPr>
              <a:lnSpc>
                <a:spcPct val="100000"/>
              </a:lnSpc>
              <a:buClr>
                <a:schemeClr val="folHlink"/>
              </a:buCl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Reflect your own self-confidence</a:t>
            </a:r>
          </a:p>
          <a:p>
            <a:pPr>
              <a:lnSpc>
                <a:spcPct val="100000"/>
              </a:lnSpc>
              <a:buClr>
                <a:schemeClr val="folHlink"/>
              </a:buCl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Proofread,  Revise and Edit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777" y="504054"/>
            <a:ext cx="10502537" cy="1279527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Arial Black" pitchFamily="34" charset="0"/>
              </a:rPr>
              <a:t>Poll Question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2776" y="1985553"/>
            <a:ext cx="10345783" cy="4191409"/>
          </a:xfrm>
        </p:spPr>
        <p:txBody>
          <a:bodyPr numCol="1">
            <a:noAutofit/>
          </a:bodyPr>
          <a:lstStyle/>
          <a:p>
            <a:pPr>
              <a:lnSpc>
                <a:spcPct val="100000"/>
              </a:lnSpc>
              <a:buClr>
                <a:schemeClr val="folHlink"/>
              </a:buClr>
              <a:buNone/>
              <a:defRPr/>
            </a:pPr>
            <a:r>
              <a:rPr lang="en-IN" b="1" dirty="0">
                <a:latin typeface="Arial" pitchFamily="34" charset="0"/>
                <a:cs typeface="Arial" pitchFamily="34" charset="0"/>
              </a:rPr>
              <a:t>Which of the following is not a function of a cover letter?</a:t>
            </a:r>
          </a:p>
          <a:p>
            <a:pPr marL="514350" indent="-514350">
              <a:lnSpc>
                <a:spcPct val="100000"/>
              </a:lnSpc>
              <a:buClr>
                <a:schemeClr val="folHlink"/>
              </a:buClr>
              <a:buFont typeface="+mj-lt"/>
              <a:buAutoNum type="arabicPeriod"/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To inform the employer of the job you are applying for</a:t>
            </a:r>
          </a:p>
          <a:p>
            <a:pPr marL="514350" indent="-514350">
              <a:lnSpc>
                <a:spcPct val="100000"/>
              </a:lnSpc>
              <a:buClr>
                <a:schemeClr val="folHlink"/>
              </a:buClr>
              <a:buFont typeface="+mj-lt"/>
              <a:buAutoNum type="arabicPeriod"/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To show how well you write</a:t>
            </a:r>
          </a:p>
          <a:p>
            <a:pPr marL="514350" indent="-514350">
              <a:lnSpc>
                <a:spcPct val="100000"/>
              </a:lnSpc>
              <a:buClr>
                <a:schemeClr val="folHlink"/>
              </a:buClr>
              <a:buFont typeface="+mj-lt"/>
              <a:buAutoNum type="arabicPeriod"/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To inform the reader of what you expect to get out of the job you're applying for</a:t>
            </a:r>
          </a:p>
          <a:p>
            <a:pPr marL="514350" indent="-514350">
              <a:lnSpc>
                <a:spcPct val="100000"/>
              </a:lnSpc>
              <a:buClr>
                <a:schemeClr val="folHlink"/>
              </a:buClr>
              <a:buFont typeface="+mj-lt"/>
              <a:buAutoNum type="arabicPeriod"/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To entice the reader to want to get to know you better by interviewing you</a:t>
            </a:r>
          </a:p>
          <a:p>
            <a:pPr>
              <a:lnSpc>
                <a:spcPct val="100000"/>
              </a:lnSpc>
              <a:buClr>
                <a:schemeClr val="folHlink"/>
              </a:buClr>
              <a:defRPr/>
            </a:pPr>
            <a:endParaRPr lang="en-IN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90600" y="19558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90600" y="5127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777" y="504054"/>
            <a:ext cx="10502537" cy="1279527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Arial Black" pitchFamily="34" charset="0"/>
              </a:rPr>
              <a:t>Poll Question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2776" y="1985553"/>
            <a:ext cx="10345783" cy="4191409"/>
          </a:xfrm>
        </p:spPr>
        <p:txBody>
          <a:bodyPr numCol="1">
            <a:noAutofit/>
          </a:bodyPr>
          <a:lstStyle/>
          <a:p>
            <a:pPr>
              <a:lnSpc>
                <a:spcPct val="100000"/>
              </a:lnSpc>
              <a:buClr>
                <a:schemeClr val="folHlink"/>
              </a:buClr>
              <a:buNone/>
              <a:defRPr/>
            </a:pPr>
            <a:r>
              <a:rPr lang="en-IN" b="1" dirty="0">
                <a:latin typeface="Arial" pitchFamily="34" charset="0"/>
                <a:cs typeface="Arial" pitchFamily="34" charset="0"/>
              </a:rPr>
              <a:t>Which of the following is not a function of a cover letter?</a:t>
            </a:r>
          </a:p>
          <a:p>
            <a:pPr marL="514350" indent="-514350">
              <a:lnSpc>
                <a:spcPct val="100000"/>
              </a:lnSpc>
              <a:buClr>
                <a:schemeClr val="folHlink"/>
              </a:buClr>
              <a:buFont typeface="+mj-lt"/>
              <a:buAutoNum type="arabicPeriod"/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To inform the employer of the job you are applying for</a:t>
            </a:r>
          </a:p>
          <a:p>
            <a:pPr marL="514350" indent="-514350">
              <a:lnSpc>
                <a:spcPct val="100000"/>
              </a:lnSpc>
              <a:buClr>
                <a:schemeClr val="folHlink"/>
              </a:buClr>
              <a:buFont typeface="+mj-lt"/>
              <a:buAutoNum type="arabicPeriod"/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To show how well you write</a:t>
            </a:r>
          </a:p>
          <a:p>
            <a:pPr marL="514350" indent="-514350">
              <a:lnSpc>
                <a:spcPct val="100000"/>
              </a:lnSpc>
              <a:buClr>
                <a:schemeClr val="folHlink"/>
              </a:buClr>
              <a:buFont typeface="+mj-lt"/>
              <a:buAutoNum type="arabicPeriod"/>
              <a:defRPr/>
            </a:pPr>
            <a:r>
              <a:rPr lang="en-IN" b="1" dirty="0">
                <a:latin typeface="Arial" pitchFamily="34" charset="0"/>
                <a:cs typeface="Arial" pitchFamily="34" charset="0"/>
              </a:rPr>
              <a:t>To inform the reader of what you expect to get out of the job you're applying for</a:t>
            </a:r>
          </a:p>
          <a:p>
            <a:pPr marL="514350" indent="-514350">
              <a:lnSpc>
                <a:spcPct val="100000"/>
              </a:lnSpc>
              <a:buClr>
                <a:schemeClr val="folHlink"/>
              </a:buClr>
              <a:buFont typeface="+mj-lt"/>
              <a:buAutoNum type="arabicPeriod"/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To entice the reader to want to get to know you better by interviewing you</a:t>
            </a:r>
          </a:p>
          <a:p>
            <a:pPr>
              <a:lnSpc>
                <a:spcPct val="100000"/>
              </a:lnSpc>
              <a:buClr>
                <a:schemeClr val="folHlink"/>
              </a:buClr>
              <a:defRPr/>
            </a:pPr>
            <a:endParaRPr lang="en-IN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90600" y="19558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90600" y="5127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777" y="517117"/>
            <a:ext cx="10528663" cy="1279527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Arial Black" pitchFamily="34" charset="0"/>
              </a:rPr>
              <a:t>Business Letter Format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1972491"/>
            <a:ext cx="10347960" cy="4204472"/>
          </a:xfrm>
        </p:spPr>
        <p:txBody>
          <a:bodyPr numCol="2">
            <a:noAutofit/>
          </a:bodyPr>
          <a:lstStyle/>
          <a:p>
            <a:pPr>
              <a:lnSpc>
                <a:spcPct val="100000"/>
              </a:lnSpc>
              <a:buClr>
                <a:schemeClr val="folHlink"/>
              </a:buCl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Your Contact Information</a:t>
            </a:r>
          </a:p>
          <a:p>
            <a:pPr>
              <a:lnSpc>
                <a:spcPct val="100000"/>
              </a:lnSpc>
              <a:buClr>
                <a:schemeClr val="folHlink"/>
              </a:buCl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The Date</a:t>
            </a:r>
          </a:p>
          <a:p>
            <a:pPr>
              <a:lnSpc>
                <a:spcPct val="100000"/>
              </a:lnSpc>
              <a:buClr>
                <a:schemeClr val="folHlink"/>
              </a:buCl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Employer’s Name, Position, and Address</a:t>
            </a:r>
          </a:p>
          <a:p>
            <a:pPr>
              <a:lnSpc>
                <a:spcPct val="100000"/>
              </a:lnSpc>
              <a:buClr>
                <a:schemeClr val="folHlink"/>
              </a:buCl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The Greeting</a:t>
            </a:r>
          </a:p>
          <a:p>
            <a:pPr>
              <a:lnSpc>
                <a:spcPct val="100000"/>
              </a:lnSpc>
              <a:buClr>
                <a:schemeClr val="folHlink"/>
              </a:buCl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Introductory Paragraph</a:t>
            </a:r>
          </a:p>
          <a:p>
            <a:pPr>
              <a:lnSpc>
                <a:spcPct val="100000"/>
              </a:lnSpc>
              <a:buClr>
                <a:schemeClr val="folHlink"/>
              </a:buCl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Body of the Letter</a:t>
            </a:r>
          </a:p>
          <a:p>
            <a:pPr>
              <a:lnSpc>
                <a:spcPct val="100000"/>
              </a:lnSpc>
              <a:buClr>
                <a:schemeClr val="folHlink"/>
              </a:buCl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Summary Paragraph</a:t>
            </a:r>
          </a:p>
          <a:p>
            <a:pPr>
              <a:lnSpc>
                <a:spcPct val="100000"/>
              </a:lnSpc>
              <a:buClr>
                <a:schemeClr val="folHlink"/>
              </a:buCl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Closing</a:t>
            </a:r>
          </a:p>
          <a:p>
            <a:pPr>
              <a:lnSpc>
                <a:spcPct val="100000"/>
              </a:lnSpc>
              <a:buClr>
                <a:schemeClr val="folHlink"/>
              </a:buCl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Your Name and Signature</a:t>
            </a:r>
          </a:p>
          <a:p>
            <a:pPr>
              <a:lnSpc>
                <a:spcPct val="100000"/>
              </a:lnSpc>
              <a:buClr>
                <a:schemeClr val="folHlink"/>
              </a:buClr>
              <a:defRPr/>
            </a:pPr>
            <a:endParaRPr lang="en-IN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90600" y="19558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90600" y="5127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sz="2800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91884" y="2372047"/>
            <a:ext cx="3827417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48195" y="2312134"/>
            <a:ext cx="4127861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Arial Black" pitchFamily="34" charset="0"/>
                <a:ea typeface="+mj-ea"/>
                <a:cs typeface="+mj-cs"/>
              </a:rPr>
              <a:t>Format of Cover letter</a:t>
            </a:r>
          </a:p>
        </p:txBody>
      </p:sp>
      <p:pic>
        <p:nvPicPr>
          <p:cNvPr id="178177" name="Picture 1"/>
          <p:cNvPicPr>
            <a:picLocks noChangeAspect="1" noChangeArrowheads="1"/>
          </p:cNvPicPr>
          <p:nvPr/>
        </p:nvPicPr>
        <p:blipFill>
          <a:blip r:embed="rId2"/>
          <a:srcRect l="17369" t="19643" r="36850" b="6250"/>
          <a:stretch>
            <a:fillRect/>
          </a:stretch>
        </p:blipFill>
        <p:spPr bwMode="auto">
          <a:xfrm>
            <a:off x="4545872" y="235128"/>
            <a:ext cx="6949442" cy="6139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Opening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latin typeface="Arial" pitchFamily="34" charset="0"/>
                <a:cs typeface="Arial" pitchFamily="34" charset="0"/>
              </a:rPr>
              <a:t>HOOK!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Is there a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link between </a:t>
            </a:r>
            <a:r>
              <a:rPr lang="en-US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your skills/experience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and the </a:t>
            </a:r>
            <a:r>
              <a:rPr lang="en-US" b="1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position</a:t>
            </a:r>
            <a:r>
              <a:rPr lang="en-US" dirty="0">
                <a:latin typeface="Arial" pitchFamily="34" charset="0"/>
                <a:cs typeface="Arial" pitchFamily="34" charset="0"/>
              </a:rPr>
              <a:t>?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Interest and passion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Matches skills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Shows research in company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NOT random fact-dropping!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i="1" dirty="0">
                <a:latin typeface="Arial" pitchFamily="34" charset="0"/>
                <a:cs typeface="Arial" pitchFamily="34" charset="0"/>
              </a:rPr>
              <a:t>Weak opening paragraph: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</a:p>
          <a:p>
            <a:pPr lvl="1"/>
            <a:r>
              <a:rPr lang="en-US" sz="2800" dirty="0">
                <a:latin typeface="Arial" pitchFamily="34" charset="0"/>
                <a:cs typeface="Arial" pitchFamily="34" charset="0"/>
              </a:rPr>
              <a:t>I am writing today to apply for the Marketing Manager position you have posted on your company Website.</a:t>
            </a:r>
          </a:p>
          <a:p>
            <a:r>
              <a:rPr lang="en-US" b="1" i="1" dirty="0">
                <a:latin typeface="Arial" pitchFamily="34" charset="0"/>
                <a:cs typeface="Arial" pitchFamily="34" charset="0"/>
              </a:rPr>
              <a:t>Good opening paragraph:</a:t>
            </a:r>
          </a:p>
          <a:p>
            <a:pPr lvl="1"/>
            <a:r>
              <a:rPr lang="en-US" sz="2800" dirty="0">
                <a:latin typeface="Arial" pitchFamily="34" charset="0"/>
                <a:cs typeface="Arial" pitchFamily="34" charset="0"/>
              </a:rPr>
              <a:t>As a current second year Masters student specializing in Marketing and Finance at Chandigarh University, I am excited to apply for Marketing Manager position at Future Group. I believe that my experience and education make me a strong candidate for this position.</a:t>
            </a:r>
            <a:endParaRPr lang="en-IN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Skills Matching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Arial" pitchFamily="34" charset="0"/>
                <a:cs typeface="Arial" pitchFamily="34" charset="0"/>
              </a:rPr>
              <a:t>Describe </a:t>
            </a:r>
            <a:r>
              <a:rPr lang="en-US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specific skills </a:t>
            </a:r>
            <a:r>
              <a:rPr lang="en-US" dirty="0">
                <a:latin typeface="Arial" pitchFamily="34" charset="0"/>
                <a:cs typeface="Arial" pitchFamily="34" charset="0"/>
              </a:rPr>
              <a:t>that are </a:t>
            </a:r>
            <a:r>
              <a:rPr lang="en-US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clearly matched to the job description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Arial" pitchFamily="34" charset="0"/>
                <a:cs typeface="Arial" pitchFamily="34" charset="0"/>
              </a:rPr>
              <a:t>Reference specific examples from courses, work, volunteer and/or co-curricular experiences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Arial" pitchFamily="34" charset="0"/>
                <a:cs typeface="Arial" pitchFamily="34" charset="0"/>
              </a:rPr>
              <a:t>Connect your accomplishments, skills and knowledge directly to the position, organization and/or field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Arial" pitchFamily="34" charset="0"/>
                <a:cs typeface="Arial" pitchFamily="34" charset="0"/>
              </a:rPr>
              <a:t>Experiences highlighted should be specific and concise, linking past experiences through transferable skills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Arial" pitchFamily="34" charset="0"/>
                <a:cs typeface="Arial" pitchFamily="34" charset="0"/>
              </a:rPr>
              <a:t>Tell the employer how you can directly contribute to the company – </a:t>
            </a:r>
            <a:r>
              <a:rPr lang="en-US" b="1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don’t make them connect the dots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My experiences demonstrate that I am a dedicated and intelligent worker, willing to take challenges, and excited to learn. Moreover, I have a strong interest in creativity and in the creative process – in developing interesting and elegant solutions to complex problems.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The unique perspective provided by living overseas as a scholar/composer/performer has given me a great deal of experience working with and directing groups. I have learned not only how to work effectively within these groups, but also I recognize the reward from doing so.</a:t>
            </a:r>
          </a:p>
          <a:p>
            <a:pPr marL="0" indent="0"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Conclusion/Closing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Give a final statement of interest/qualifications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Reiterates skills </a:t>
            </a:r>
            <a:r>
              <a:rPr lang="en-US" b="1" i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in a different way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Indicate your plans to contact the employer to discuss opportunities or request an interview </a:t>
            </a:r>
          </a:p>
          <a:p>
            <a:r>
              <a:rPr lang="en-US" b="1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Thank the employer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for his/her time and consideration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Use appropriate closing line, such as:</a:t>
            </a:r>
          </a:p>
          <a:p>
            <a:pPr lvl="3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IN" sz="28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Yours sincerely</a:t>
            </a:r>
            <a:endParaRPr lang="en-IN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defRPr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Sign your name and print it underneath.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 Enclosure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dirty="0">
                <a:latin typeface="Arial" pitchFamily="34" charset="0"/>
                <a:cs typeface="Arial" pitchFamily="34" charset="0"/>
              </a:rPr>
              <a:t>Thank you for your time and consideration. I will be available starting from the beginning of September. You can contact me at xxxx@gmail.com or +91-98888-88888. I am attaching my resume as well to give you information about my academic background and work experience. Also, you can see a brief overview and snapshots of my work at my online portfolio: http://www.abcde.in.</a:t>
            </a:r>
          </a:p>
          <a:p>
            <a:pPr marL="0" indent="0">
              <a:buNone/>
            </a:pPr>
            <a:endParaRPr lang="en-IN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sz="2800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24" y="1812563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Most positions are </a:t>
            </a:r>
            <a:r>
              <a:rPr lang="en-IN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never</a:t>
            </a:r>
            <a:r>
              <a:rPr lang="en-IN" dirty="0">
                <a:latin typeface="Arial" pitchFamily="34" charset="0"/>
                <a:cs typeface="Arial" pitchFamily="34" charset="0"/>
              </a:rPr>
              <a:t> advertised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A cold cover letter is an inquire to an employer, recruiter or hiring manager regarding possible job opportunities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Advantages include: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Creating a job that didn’t previously exist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Gaining early consideration for a position that hasn’t yet been advertised and expanding your network of contacts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By sending a letter to an employer who’s not soliciting candidates, your resume will not be buried in a pile of hundreds of others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49087" y="640082"/>
            <a:ext cx="1050253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Arial Black" pitchFamily="34" charset="0"/>
                <a:ea typeface="+mj-ea"/>
                <a:cs typeface="+mj-cs"/>
              </a:rPr>
              <a:t>Cold Cover Letters</a:t>
            </a:r>
            <a:endParaRPr lang="en-US" sz="4400" b="1" dirty="0">
              <a:latin typeface="Arial Black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sz="2800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24" y="1812563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Verbs have either active or passive voice. The active voice is more powerful.</a:t>
            </a:r>
          </a:p>
          <a:p>
            <a:r>
              <a:rPr lang="en-US" u="sng" dirty="0">
                <a:latin typeface="Arial" pitchFamily="34" charset="0"/>
                <a:cs typeface="Arial" pitchFamily="34" charset="0"/>
              </a:rPr>
              <a:t>Active:</a:t>
            </a:r>
            <a:r>
              <a:rPr lang="en-US" dirty="0">
                <a:latin typeface="Arial" pitchFamily="34" charset="0"/>
                <a:cs typeface="Arial" pitchFamily="34" charset="0"/>
              </a:rPr>
              <a:t>   Pat Smith wrote the report.</a:t>
            </a:r>
          </a:p>
          <a:p>
            <a:r>
              <a:rPr lang="en-US" u="sng" dirty="0">
                <a:latin typeface="Arial" pitchFamily="34" charset="0"/>
                <a:cs typeface="Arial" pitchFamily="34" charset="0"/>
              </a:rPr>
              <a:t>Passive:</a:t>
            </a:r>
            <a:r>
              <a:rPr lang="en-US" dirty="0">
                <a:latin typeface="Arial" pitchFamily="34" charset="0"/>
                <a:cs typeface="Arial" pitchFamily="34" charset="0"/>
              </a:rPr>
              <a:t> The report was written by Pat Smith.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                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A passive verb always consists of a form of </a:t>
            </a:r>
            <a:r>
              <a:rPr lang="en-US" i="1" dirty="0">
                <a:latin typeface="Arial" pitchFamily="34" charset="0"/>
                <a:cs typeface="Arial" pitchFamily="34" charset="0"/>
              </a:rPr>
              <a:t>to be</a:t>
            </a:r>
            <a:r>
              <a:rPr lang="en-US" dirty="0">
                <a:latin typeface="Arial" pitchFamily="34" charset="0"/>
                <a:cs typeface="Arial" pitchFamily="34" charset="0"/>
              </a:rPr>
              <a:t> followed by a past participle.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(was seen, had been taught, is guaranteed)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49087" y="640082"/>
            <a:ext cx="1050253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Arial Black" pitchFamily="34" charset="0"/>
                <a:ea typeface="+mj-ea"/>
                <a:cs typeface="+mj-cs"/>
              </a:rPr>
              <a:t>Use Active Verbs</a:t>
            </a:r>
            <a:endParaRPr lang="en-US" sz="4400" b="1" dirty="0">
              <a:latin typeface="Arial Black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sz="2800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24" y="1812563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“</a:t>
            </a:r>
            <a:r>
              <a:rPr lang="en-US" dirty="0">
                <a:solidFill>
                  <a:schemeClr val="hlink"/>
                </a:solidFill>
                <a:latin typeface="Arial" pitchFamily="34" charset="0"/>
                <a:cs typeface="Arial" pitchFamily="34" charset="0"/>
              </a:rPr>
              <a:t>I have built my career on effective</a:t>
            </a:r>
            <a:r>
              <a:rPr lang="en-US" dirty="0">
                <a:latin typeface="Arial" pitchFamily="34" charset="0"/>
                <a:cs typeface="Arial" pitchFamily="34" charset="0"/>
              </a:rPr>
              <a:t> non-profit management, commercial banking, public finance, accounting, and management skills </a:t>
            </a:r>
            <a:r>
              <a:rPr lang="en-US" dirty="0">
                <a:solidFill>
                  <a:schemeClr val="hlink"/>
                </a:solidFill>
                <a:latin typeface="Arial" pitchFamily="34" charset="0"/>
                <a:cs typeface="Arial" pitchFamily="34" charset="0"/>
              </a:rPr>
              <a:t>based on hard-won expertise in</a:t>
            </a:r>
            <a:r>
              <a:rPr lang="en-US" dirty="0">
                <a:latin typeface="Arial" pitchFamily="34" charset="0"/>
                <a:cs typeface="Arial" pitchFamily="34" charset="0"/>
              </a:rPr>
              <a:t> human resources.  </a:t>
            </a:r>
            <a:r>
              <a:rPr lang="en-US" dirty="0">
                <a:solidFill>
                  <a:schemeClr val="hlink"/>
                </a:solidFill>
                <a:latin typeface="Arial" pitchFamily="34" charset="0"/>
                <a:cs typeface="Arial" pitchFamily="34" charset="0"/>
              </a:rPr>
              <a:t>I have succeeded by</a:t>
            </a:r>
            <a:r>
              <a:rPr lang="en-US" dirty="0">
                <a:latin typeface="Arial" pitchFamily="34" charset="0"/>
                <a:cs typeface="Arial" pitchFamily="34" charset="0"/>
              </a:rPr>
              <a:t>  identifying….”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	</a:t>
            </a:r>
            <a:r>
              <a:rPr lang="en-US" b="1" i="1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-RATHER THAN  THE MORE PASSIVE-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i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 “</a:t>
            </a:r>
            <a:r>
              <a:rPr lang="en-US" dirty="0">
                <a:solidFill>
                  <a:srgbClr val="FF9900"/>
                </a:solidFill>
                <a:latin typeface="Arial" pitchFamily="34" charset="0"/>
                <a:cs typeface="Arial" pitchFamily="34" charset="0"/>
              </a:rPr>
              <a:t>My career has been built</a:t>
            </a:r>
            <a:r>
              <a:rPr lang="en-US" dirty="0">
                <a:latin typeface="Arial" pitchFamily="34" charset="0"/>
                <a:cs typeface="Arial" pitchFamily="34" charset="0"/>
              </a:rPr>
              <a:t> in non-profit management, commercial banking, public finance, accounting, management and human resources.  </a:t>
            </a:r>
            <a:r>
              <a:rPr lang="en-US" dirty="0">
                <a:solidFill>
                  <a:srgbClr val="FF9900"/>
                </a:solidFill>
                <a:latin typeface="Arial" pitchFamily="34" charset="0"/>
                <a:cs typeface="Arial" pitchFamily="34" charset="0"/>
              </a:rPr>
              <a:t>My success has come from</a:t>
            </a:r>
            <a:r>
              <a:rPr lang="en-US" dirty="0">
                <a:latin typeface="Arial" pitchFamily="34" charset="0"/>
                <a:cs typeface="Arial" pitchFamily="34" charset="0"/>
              </a:rPr>
              <a:t> identifying….”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49087" y="640082"/>
            <a:ext cx="1050253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Arial Black" pitchFamily="34" charset="0"/>
                <a:ea typeface="+mj-ea"/>
                <a:cs typeface="+mj-cs"/>
              </a:rPr>
              <a:t>Example</a:t>
            </a:r>
            <a:endParaRPr lang="en-US" sz="4400" b="1" dirty="0">
              <a:latin typeface="Arial Black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sz="2800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24" y="1812563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Assume the employer will connect the dots</a:t>
            </a:r>
          </a:p>
          <a:p>
            <a:pPr>
              <a:spcBef>
                <a:spcPts val="0"/>
              </a:spcBef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Be explicit about your experience and what they need</a:t>
            </a:r>
            <a:br>
              <a:rPr lang="en-IN" dirty="0">
                <a:latin typeface="Arial" pitchFamily="34" charset="0"/>
                <a:cs typeface="Arial" pitchFamily="34" charset="0"/>
              </a:rPr>
            </a:br>
            <a:endParaRPr lang="en-IN" dirty="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  <a:buNone/>
              <a:defRPr/>
            </a:pPr>
            <a:r>
              <a:rPr lang="en-IN" b="1" dirty="0">
                <a:latin typeface="Arial" pitchFamily="34" charset="0"/>
                <a:cs typeface="Arial" pitchFamily="34" charset="0"/>
              </a:rPr>
              <a:t>Overusing “I”</a:t>
            </a:r>
          </a:p>
          <a:p>
            <a:pPr>
              <a:spcBef>
                <a:spcPts val="0"/>
              </a:spcBef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Focus on how you meet an employer’s needs, not on your life story</a:t>
            </a:r>
          </a:p>
          <a:p>
            <a:pPr>
              <a:spcBef>
                <a:spcPts val="0"/>
              </a:spcBef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Minimize the use of the word “I,” especially at the beginning of your sentences</a:t>
            </a:r>
            <a:br>
              <a:rPr lang="en-IN" dirty="0">
                <a:latin typeface="Arial" pitchFamily="34" charset="0"/>
                <a:cs typeface="Arial" pitchFamily="34" charset="0"/>
              </a:rPr>
            </a:br>
            <a:endParaRPr lang="en-IN" dirty="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  <a:buNone/>
              <a:defRPr/>
            </a:pPr>
            <a:r>
              <a:rPr lang="en-IN" b="1" dirty="0">
                <a:latin typeface="Arial" pitchFamily="34" charset="0"/>
                <a:cs typeface="Arial" pitchFamily="34" charset="0"/>
              </a:rPr>
              <a:t>Making it too long</a:t>
            </a:r>
          </a:p>
          <a:p>
            <a:pPr>
              <a:spcBef>
                <a:spcPts val="0"/>
              </a:spcBef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One page maximum</a:t>
            </a:r>
          </a:p>
          <a:p>
            <a:pPr>
              <a:spcBef>
                <a:spcPts val="0"/>
              </a:spcBef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A great cover letter is concise but compelling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49087" y="640082"/>
            <a:ext cx="1050253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Arial Black" pitchFamily="34" charset="0"/>
                <a:ea typeface="+mj-ea"/>
                <a:cs typeface="+mj-cs"/>
              </a:rPr>
              <a:t>Things to Avoid</a:t>
            </a:r>
            <a:endParaRPr lang="en-US" sz="4400" b="1" dirty="0">
              <a:latin typeface="Arial Black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sz="2800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24" y="1812563"/>
            <a:ext cx="10515600" cy="435133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Repeating your resume word for word</a:t>
            </a:r>
          </a:p>
          <a:p>
            <a:pPr>
              <a:spcBef>
                <a:spcPts val="0"/>
              </a:spcBef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Don’t regurgitate what’s on your resume</a:t>
            </a:r>
          </a:p>
          <a:p>
            <a:pPr>
              <a:spcBef>
                <a:spcPts val="0"/>
              </a:spcBef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Your CL should tell a story about the relevant accomplishments on your resume</a:t>
            </a:r>
            <a:br>
              <a:rPr lang="en-IN" dirty="0">
                <a:latin typeface="Arial" pitchFamily="34" charset="0"/>
                <a:cs typeface="Arial" pitchFamily="34" charset="0"/>
              </a:rPr>
            </a:br>
            <a:endParaRPr lang="en-IN" dirty="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Spelling and/or grammar errors</a:t>
            </a:r>
          </a:p>
          <a:p>
            <a:pPr>
              <a:spcBef>
                <a:spcPts val="0"/>
              </a:spcBef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Get several reviews from others</a:t>
            </a:r>
            <a:br>
              <a:rPr lang="en-IN" dirty="0">
                <a:latin typeface="Arial" pitchFamily="34" charset="0"/>
                <a:cs typeface="Arial" pitchFamily="34" charset="0"/>
              </a:rPr>
            </a:br>
            <a:endParaRPr lang="en-IN" dirty="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“Here’s what I’m looking for”</a:t>
            </a:r>
          </a:p>
          <a:p>
            <a:pPr>
              <a:spcBef>
                <a:spcPts val="0"/>
              </a:spcBef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Focus your letter on what you can do for them, NOT what they can do for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49087" y="640082"/>
            <a:ext cx="1050253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Arial Black" pitchFamily="34" charset="0"/>
                <a:ea typeface="+mj-ea"/>
                <a:cs typeface="+mj-cs"/>
              </a:rPr>
              <a:t>Things to Avoid</a:t>
            </a:r>
            <a:endParaRPr lang="en-US" sz="4400" b="1" dirty="0">
              <a:latin typeface="Arial Black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462" y="360361"/>
            <a:ext cx="10241281" cy="1279527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Arial Black" pitchFamily="34" charset="0"/>
              </a:rPr>
              <a:t>Poll Question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00360" cy="4351338"/>
          </a:xfrm>
        </p:spPr>
        <p:txBody>
          <a:bodyPr numCol="1">
            <a:noAutofit/>
          </a:bodyPr>
          <a:lstStyle/>
          <a:p>
            <a:pPr>
              <a:lnSpc>
                <a:spcPct val="100000"/>
              </a:lnSpc>
              <a:buClr>
                <a:schemeClr val="folHlink"/>
              </a:buClr>
              <a:buNone/>
              <a:defRPr/>
            </a:pPr>
            <a:r>
              <a:rPr lang="en-IN" b="1" dirty="0">
                <a:latin typeface="Arial" pitchFamily="34" charset="0"/>
                <a:cs typeface="Arial" pitchFamily="34" charset="0"/>
              </a:rPr>
              <a:t>Which of the following is necessary for a successful cover letter?</a:t>
            </a:r>
          </a:p>
          <a:p>
            <a:pPr marL="514350" indent="-514350">
              <a:lnSpc>
                <a:spcPct val="100000"/>
              </a:lnSpc>
              <a:buClr>
                <a:schemeClr val="folHlink"/>
              </a:buClr>
              <a:buFont typeface="+mj-lt"/>
              <a:buAutoNum type="arabicPeriod"/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Opening, body and closing paragraphs</a:t>
            </a:r>
          </a:p>
          <a:p>
            <a:pPr marL="514350" indent="-514350">
              <a:lnSpc>
                <a:spcPct val="100000"/>
              </a:lnSpc>
              <a:buClr>
                <a:schemeClr val="folHlink"/>
              </a:buClr>
              <a:buFont typeface="+mj-lt"/>
              <a:buAutoNum type="arabicPeriod"/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Addressing the letter to a specific individual or department</a:t>
            </a:r>
          </a:p>
          <a:p>
            <a:pPr marL="514350" indent="-514350">
              <a:lnSpc>
                <a:spcPct val="100000"/>
              </a:lnSpc>
              <a:buClr>
                <a:schemeClr val="folHlink"/>
              </a:buClr>
              <a:buFont typeface="+mj-lt"/>
              <a:buAutoNum type="arabicPeriod"/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Connecting your skills to the ones profiled in the job advertisement</a:t>
            </a:r>
          </a:p>
          <a:p>
            <a:pPr marL="514350" indent="-514350">
              <a:lnSpc>
                <a:spcPct val="100000"/>
              </a:lnSpc>
              <a:buClr>
                <a:schemeClr val="folHlink"/>
              </a:buClr>
              <a:buFont typeface="+mj-lt"/>
              <a:buAutoNum type="arabicPeriod"/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All of the above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462" y="360361"/>
            <a:ext cx="10241281" cy="1279527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Arial Black" pitchFamily="34" charset="0"/>
              </a:rPr>
              <a:t>Poll Question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00360" cy="4351338"/>
          </a:xfrm>
        </p:spPr>
        <p:txBody>
          <a:bodyPr numCol="1">
            <a:noAutofit/>
          </a:bodyPr>
          <a:lstStyle/>
          <a:p>
            <a:pPr>
              <a:lnSpc>
                <a:spcPct val="100000"/>
              </a:lnSpc>
              <a:buClr>
                <a:schemeClr val="folHlink"/>
              </a:buClr>
              <a:buNone/>
              <a:defRPr/>
            </a:pPr>
            <a:r>
              <a:rPr lang="en-IN" b="1" dirty="0">
                <a:latin typeface="Arial" pitchFamily="34" charset="0"/>
                <a:cs typeface="Arial" pitchFamily="34" charset="0"/>
              </a:rPr>
              <a:t>Which of the following is necessary for a successful cover letter?</a:t>
            </a:r>
          </a:p>
          <a:p>
            <a:pPr marL="514350" indent="-514350">
              <a:lnSpc>
                <a:spcPct val="100000"/>
              </a:lnSpc>
              <a:buClr>
                <a:schemeClr val="folHlink"/>
              </a:buClr>
              <a:buFont typeface="+mj-lt"/>
              <a:buAutoNum type="arabicPeriod"/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Opening, body and closing paragraphs</a:t>
            </a:r>
          </a:p>
          <a:p>
            <a:pPr marL="514350" indent="-514350">
              <a:lnSpc>
                <a:spcPct val="100000"/>
              </a:lnSpc>
              <a:buClr>
                <a:schemeClr val="folHlink"/>
              </a:buClr>
              <a:buFont typeface="+mj-lt"/>
              <a:buAutoNum type="arabicPeriod"/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Addressing the letter to a specific individual or department</a:t>
            </a:r>
          </a:p>
          <a:p>
            <a:pPr marL="514350" indent="-514350">
              <a:lnSpc>
                <a:spcPct val="100000"/>
              </a:lnSpc>
              <a:buClr>
                <a:schemeClr val="folHlink"/>
              </a:buClr>
              <a:buFont typeface="+mj-lt"/>
              <a:buAutoNum type="arabicPeriod"/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Connecting your skills to the ones profiled in the job advertisement</a:t>
            </a:r>
          </a:p>
          <a:p>
            <a:pPr marL="514350" indent="-514350">
              <a:lnSpc>
                <a:spcPct val="100000"/>
              </a:lnSpc>
              <a:buClr>
                <a:schemeClr val="folHlink"/>
              </a:buClr>
              <a:buFont typeface="+mj-lt"/>
              <a:buAutoNum type="arabicPeriod"/>
              <a:defRPr/>
            </a:pPr>
            <a:r>
              <a:rPr lang="en-IN" b="1" dirty="0">
                <a:latin typeface="Arial" pitchFamily="34" charset="0"/>
                <a:cs typeface="Arial" pitchFamily="34" charset="0"/>
              </a:rPr>
              <a:t>All of the above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665" name="Picture 1"/>
          <p:cNvPicPr>
            <a:picLocks noChangeAspect="1" noChangeArrowheads="1"/>
          </p:cNvPicPr>
          <p:nvPr/>
        </p:nvPicPr>
        <p:blipFill>
          <a:blip r:embed="rId2"/>
          <a:srcRect l="18072" t="25179" r="53616" b="9821"/>
          <a:stretch>
            <a:fillRect/>
          </a:stretch>
        </p:blipFill>
        <p:spPr bwMode="auto">
          <a:xfrm>
            <a:off x="4010298" y="222069"/>
            <a:ext cx="7302138" cy="6152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sz="2800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41812" y="2006281"/>
            <a:ext cx="3655423" cy="203014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48195" y="1959430"/>
            <a:ext cx="3735975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Arial Black" pitchFamily="34" charset="0"/>
                <a:ea typeface="+mj-ea"/>
                <a:cs typeface="+mj-cs"/>
              </a:rPr>
              <a:t>Example of a Cover letter</a:t>
            </a: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sz="2800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49087" y="640082"/>
            <a:ext cx="1050253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Arial Black" pitchFamily="34" charset="0"/>
                <a:ea typeface="+mj-ea"/>
                <a:cs typeface="+mj-cs"/>
              </a:rPr>
              <a:t>Action Verbs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36022" y="1803884"/>
          <a:ext cx="10515600" cy="435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Achieved</a:t>
                      </a:r>
                    </a:p>
                    <a:p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Administered</a:t>
                      </a:r>
                    </a:p>
                    <a:p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Attained</a:t>
                      </a:r>
                    </a:p>
                    <a:p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Built</a:t>
                      </a:r>
                    </a:p>
                    <a:p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Coached</a:t>
                      </a:r>
                    </a:p>
                    <a:p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Completed</a:t>
                      </a:r>
                    </a:p>
                    <a:p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Coordinated</a:t>
                      </a:r>
                    </a:p>
                    <a:p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Delivered</a:t>
                      </a:r>
                    </a:p>
                    <a:p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Demonstrated</a:t>
                      </a:r>
                    </a:p>
                    <a:p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Developed</a:t>
                      </a:r>
                      <a:endParaRPr lang="en-IN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Effected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Established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Expedited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Formulated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Generated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Headed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Implemented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Improved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Invented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Launched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Led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Maintained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Managed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Motivated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Negotiated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Organized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Originated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Planned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Presented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Proposed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Reinforced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Reorganized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Researched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Set up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Simplified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Solved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Tackled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Taught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Updated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sz="2800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49087" y="640082"/>
            <a:ext cx="1050253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Arial Black" pitchFamily="34" charset="0"/>
                <a:ea typeface="+mj-ea"/>
                <a:cs typeface="+mj-cs"/>
              </a:rPr>
              <a:t>Self-descriptive Words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36022" y="1803884"/>
          <a:ext cx="10515600" cy="43748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74847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Adaptable</a:t>
                      </a:r>
                    </a:p>
                    <a:p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Analytical</a:t>
                      </a:r>
                    </a:p>
                    <a:p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Assertive</a:t>
                      </a:r>
                    </a:p>
                    <a:p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Confident</a:t>
                      </a:r>
                    </a:p>
                    <a:p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Conscientious</a:t>
                      </a:r>
                    </a:p>
                    <a:p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Creative</a:t>
                      </a:r>
                    </a:p>
                    <a:p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Disciplined</a:t>
                      </a:r>
                    </a:p>
                    <a:p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Efficient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Energetic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Enterprising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Enthusiastic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Expressive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Extroverted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Ingenious</a:t>
                      </a:r>
                    </a:p>
                    <a:p>
                      <a:endParaRPr lang="en-IN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Innovative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Manager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Personable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Persuasive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Precise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Productive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Reliable</a:t>
                      </a:r>
                    </a:p>
                    <a:p>
                      <a:endParaRPr lang="en-IN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Responsible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Self-reliant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Self-starter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Skilled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Tactful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Team player</a:t>
                      </a:r>
                    </a:p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Technical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  <a:cs typeface="Arial" panose="020B0604020202020204" pitchFamily="34" charset="0"/>
              </a:rPr>
              <a:t>Applications  </a:t>
            </a:r>
            <a:r>
              <a:rPr lang="en-US" dirty="0">
                <a:latin typeface="Arial Black" pitchFamily="34" charset="0"/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Applicable to professional life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Will strengthen the Cover Letter writing skills of students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Students will be able to write better cover letters as a result they will be able to get more job opportunities.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711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  <a:cs typeface="Arial" panose="020B0604020202020204" pitchFamily="34" charset="0"/>
              </a:rPr>
              <a:t>Assessment Pattern </a:t>
            </a:r>
            <a:r>
              <a:rPr lang="en-US" dirty="0">
                <a:latin typeface="Arial Black" pitchFamily="34" charset="0"/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b="1" dirty="0">
                <a:latin typeface="Arial" pitchFamily="34" charset="0"/>
                <a:cs typeface="Arial" pitchFamily="34" charset="0"/>
              </a:rPr>
              <a:t>Students are assessed on the basis of the following parameters: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Hourly Tests - 2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Assignments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Surprise Test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Quiz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Student Engagement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End Semester Exam</a:t>
            </a:r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45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References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6616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Arial" pitchFamily="34" charset="0"/>
                <a:cs typeface="Arial" pitchFamily="34" charset="0"/>
                <a:hlinkClick r:id="rId2"/>
              </a:rPr>
              <a:t>www.careerplacejobs.com/cbo/CoverLetter.ppt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Arial" pitchFamily="34" charset="0"/>
                <a:cs typeface="Arial" pitchFamily="34" charset="0"/>
                <a:hlinkClick r:id="rId3"/>
              </a:rPr>
              <a:t>https://owl.english.purdue.edu/media/ppt/20071017015442_698.ppt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Arial" pitchFamily="34" charset="0"/>
                <a:cs typeface="Arial" pitchFamily="34" charset="0"/>
                <a:hlinkClick r:id="rId4"/>
              </a:rPr>
              <a:t>https://www.saultcollege.ca/Services/.../</a:t>
            </a:r>
            <a:r>
              <a:rPr lang="en-US" dirty="0" err="1">
                <a:latin typeface="Arial" pitchFamily="34" charset="0"/>
                <a:cs typeface="Arial" pitchFamily="34" charset="0"/>
                <a:hlinkClick r:id="rId4"/>
              </a:rPr>
              <a:t>Powerpoints</a:t>
            </a:r>
            <a:r>
              <a:rPr lang="en-US" dirty="0">
                <a:latin typeface="Arial" pitchFamily="34" charset="0"/>
                <a:cs typeface="Arial" pitchFamily="34" charset="0"/>
                <a:hlinkClick r:id="rId4"/>
              </a:rPr>
              <a:t>/Cover%20Letter%20Writing.ppsx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users.ipfw.edu/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wellerw</a:t>
            </a:r>
            <a:r>
              <a:rPr lang="en-US" dirty="0">
                <a:latin typeface="Arial" pitchFamily="34" charset="0"/>
                <a:cs typeface="Arial" pitchFamily="34" charset="0"/>
              </a:rPr>
              <a:t>/cover_letter.ppt</a:t>
            </a:r>
          </a:p>
          <a:p>
            <a:pPr>
              <a:lnSpc>
                <a:spcPct val="100000"/>
              </a:lnSpc>
            </a:pPr>
            <a:r>
              <a:rPr lang="en-IN" u="sng" dirty="0">
                <a:latin typeface="Arial" pitchFamily="34" charset="0"/>
                <a:cs typeface="Arial" pitchFamily="34" charset="0"/>
                <a:hlinkClick r:id="rId5"/>
              </a:rPr>
              <a:t>umich.instructure.com</a:t>
            </a:r>
          </a:p>
          <a:p>
            <a:pPr>
              <a:lnSpc>
                <a:spcPct val="100000"/>
              </a:lnSpc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" name="CorelDRAW" r:id="rId3" imgW="2169000" imgH="2169360" progId="">
                    <p:embed/>
                  </p:oleObj>
                </mc:Choice>
                <mc:Fallback>
                  <p:oleObj name="CorelDRAW" r:id="rId3" imgW="2169000" imgH="2169360" progId="">
                    <p:embed/>
                    <p:pic>
                      <p:nvPicPr>
                        <p:cNvPr id="33" name="Object 32">
                          <a:extLst>
                            <a:ext uri="{FF2B5EF4-FFF2-40B4-BE49-F238E27FC236}">
                              <a16:creationId xmlns:a16="http://schemas.microsoft.com/office/drawing/2014/main" id="{CAD0D7B8-E462-453C-B296-CA0154FA54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Rectangle 1"/>
          <p:cNvSpPr/>
          <p:nvPr/>
        </p:nvSpPr>
        <p:spPr>
          <a:xfrm>
            <a:off x="4114005" y="5394447"/>
            <a:ext cx="32399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For queries</a:t>
            </a:r>
          </a:p>
          <a:p>
            <a:r>
              <a:rPr lang="en-US" dirty="0">
                <a:latin typeface="Casper" panose="02000506000000020004" pitchFamily="2" charset="0"/>
                <a:cs typeface="Segoe UI" panose="020B0502040204020203" pitchFamily="34" charset="0"/>
              </a:rPr>
              <a:t>Email: communicationskills.uilah@gmail.com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3587</TotalTime>
  <Words>1871</Words>
  <Application>Microsoft Office PowerPoint</Application>
  <PresentationFormat>Widescreen</PresentationFormat>
  <Paragraphs>309</Paragraphs>
  <Slides>33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35" baseType="lpstr">
      <vt:lpstr>1_Office Theme</vt:lpstr>
      <vt:lpstr>Contents Slide Master</vt:lpstr>
      <vt:lpstr>PowerPoint Presentation</vt:lpstr>
      <vt:lpstr>Course Objectives </vt:lpstr>
      <vt:lpstr>Course Outcomes</vt:lpstr>
      <vt:lpstr>Cover Letter</vt:lpstr>
      <vt:lpstr>When is a cover letter necessary?</vt:lpstr>
      <vt:lpstr>Resume Vs Cover Letter</vt:lpstr>
      <vt:lpstr>Purpose of a Cover Letter</vt:lpstr>
      <vt:lpstr>Purpose of a Cover Letter (Cont’d)</vt:lpstr>
      <vt:lpstr>Tips for Creating a Powerful Cover Letter</vt:lpstr>
      <vt:lpstr>Poll Question</vt:lpstr>
      <vt:lpstr>Poll Question</vt:lpstr>
      <vt:lpstr>Business Letter Format</vt:lpstr>
      <vt:lpstr> </vt:lpstr>
      <vt:lpstr>Opening</vt:lpstr>
      <vt:lpstr>Example</vt:lpstr>
      <vt:lpstr>Skills Matching</vt:lpstr>
      <vt:lpstr>Example</vt:lpstr>
      <vt:lpstr>Conclusion/Closing</vt:lpstr>
      <vt:lpstr>Example</vt:lpstr>
      <vt:lpstr> </vt:lpstr>
      <vt:lpstr> </vt:lpstr>
      <vt:lpstr> </vt:lpstr>
      <vt:lpstr> </vt:lpstr>
      <vt:lpstr> </vt:lpstr>
      <vt:lpstr>Poll Question</vt:lpstr>
      <vt:lpstr>Poll Question</vt:lpstr>
      <vt:lpstr> </vt:lpstr>
      <vt:lpstr> </vt:lpstr>
      <vt:lpstr> </vt:lpstr>
      <vt:lpstr>Applications    </vt:lpstr>
      <vt:lpstr>Assessment Pattern   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Bhumi Hedau</cp:lastModifiedBy>
  <cp:revision>179</cp:revision>
  <dcterms:created xsi:type="dcterms:W3CDTF">2019-01-09T10:33:58Z</dcterms:created>
  <dcterms:modified xsi:type="dcterms:W3CDTF">2021-04-27T12:06:18Z</dcterms:modified>
</cp:coreProperties>
</file>