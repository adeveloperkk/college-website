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8" r:id="rId5"/>
    <p:sldId id="261" r:id="rId6"/>
    <p:sldId id="273" r:id="rId7"/>
    <p:sldId id="272" r:id="rId8"/>
    <p:sldId id="262" r:id="rId9"/>
    <p:sldId id="263" r:id="rId10"/>
    <p:sldId id="264" r:id="rId11"/>
    <p:sldId id="274" r:id="rId12"/>
    <p:sldId id="265" r:id="rId13"/>
    <p:sldId id="266" r:id="rId14"/>
    <p:sldId id="267" r:id="rId15"/>
    <p:sldId id="269" r:id="rId16"/>
    <p:sldId id="270" r:id="rId17"/>
    <p:sldId id="27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0" d="100"/>
          <a:sy n="70" d="100"/>
        </p:scale>
        <p:origin x="-1386" y="-5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719DBFC-B2F5-4A9B-A81B-C5EF5FC11ABB}"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19DBFC-B2F5-4A9B-A81B-C5EF5FC11ABB}"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19DBFC-B2F5-4A9B-A81B-C5EF5FC11ABB}"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719DBFC-B2F5-4A9B-A81B-C5EF5FC11ABB}"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719DBFC-B2F5-4A9B-A81B-C5EF5FC11ABB}" type="datetimeFigureOut">
              <a:rPr lang="en-US" smtClean="0"/>
              <a:t>8/25/2020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719DBFC-B2F5-4A9B-A81B-C5EF5FC11ABB}" type="datetimeFigureOut">
              <a:rPr lang="en-US" smtClean="0"/>
              <a:t>8/25/2020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19DBFC-B2F5-4A9B-A81B-C5EF5FC11ABB}" type="datetimeFigureOut">
              <a:rPr lang="en-US" smtClean="0"/>
              <a:t>8/25/2020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19DBFC-B2F5-4A9B-A81B-C5EF5FC11ABB}"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19DBFC-B2F5-4A9B-A81B-C5EF5FC11ABB}"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19DBFC-B2F5-4A9B-A81B-C5EF5FC11ABB}"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19DBFC-B2F5-4A9B-A81B-C5EF5FC11ABB}"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1C488A-125D-4622-9115-2A0AD99A8E2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19DBFC-B2F5-4A9B-A81B-C5EF5FC11ABB}" type="datetimeFigureOut">
              <a:rPr lang="en-US" smtClean="0"/>
              <a:t>8/25/2020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C488A-125D-4622-9115-2A0AD99A8E2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micro.magnet.fsu.edu/cells/mitochondria/mitochondria.html" TargetMode="Externa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s://micro.magnet.fsu.edu/cells/mitochondria/mitochondria.html"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hyperlink" Target="https://micro.magnet.fsu.edu/cells/nucleus/nucleus.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hlinkClick r:id="rId2"/>
              </a:rPr>
              <a:t>Mitochondria</a:t>
            </a:r>
            <a:r>
              <a:rPr lang="en-US" dirty="0" smtClean="0"/>
              <a:t> </a:t>
            </a:r>
            <a:endParaRPr lang="en-US" dirty="0"/>
          </a:p>
        </p:txBody>
      </p:sp>
      <p:sp>
        <p:nvSpPr>
          <p:cNvPr id="3" name="Content Placeholder 2"/>
          <p:cNvSpPr>
            <a:spLocks noGrp="1"/>
          </p:cNvSpPr>
          <p:nvPr>
            <p:ph sz="half" idx="1"/>
          </p:nvPr>
        </p:nvSpPr>
        <p:spPr/>
        <p:txBody>
          <a:bodyPr>
            <a:normAutofit fontScale="92500" lnSpcReduction="20000"/>
          </a:bodyPr>
          <a:lstStyle/>
          <a:p>
            <a:r>
              <a:rPr lang="en-US" b="1" dirty="0">
                <a:hlinkClick r:id="rId2"/>
              </a:rPr>
              <a:t>Mitochondria</a:t>
            </a:r>
            <a:r>
              <a:rPr lang="en-US" dirty="0"/>
              <a:t> - Mitochondria are oblong shaped organelles that are found in the cytoplasm of every </a:t>
            </a:r>
            <a:r>
              <a:rPr lang="en-US" dirty="0" smtClean="0"/>
              <a:t>cell</a:t>
            </a:r>
            <a:r>
              <a:rPr lang="en-US" dirty="0"/>
              <a:t>. </a:t>
            </a:r>
            <a:endParaRPr lang="en-US" dirty="0" smtClean="0"/>
          </a:p>
          <a:p>
            <a:r>
              <a:rPr lang="en-US" dirty="0" smtClean="0"/>
              <a:t>In </a:t>
            </a:r>
            <a:r>
              <a:rPr lang="en-US" dirty="0"/>
              <a:t>the animal cell, they are the main power generators, converting oxygen and nutrients into energy.</a:t>
            </a:r>
          </a:p>
          <a:p>
            <a:r>
              <a:rPr lang="en-US" dirty="0" smtClean="0"/>
              <a:t>Also known as power house of cell.</a:t>
            </a:r>
            <a:br>
              <a:rPr lang="en-US" dirty="0" smtClean="0"/>
            </a:br>
            <a:endParaRPr lang="en-US" dirty="0"/>
          </a:p>
        </p:txBody>
      </p:sp>
      <p:pic>
        <p:nvPicPr>
          <p:cNvPr id="5" name="Content Placeholder 4" descr="5.jpg"/>
          <p:cNvPicPr>
            <a:picLocks noGrp="1" noChangeAspect="1"/>
          </p:cNvPicPr>
          <p:nvPr>
            <p:ph sz="half" idx="2"/>
          </p:nvPr>
        </p:nvPicPr>
        <p:blipFill>
          <a:blip r:embed="rId3"/>
          <a:stretch>
            <a:fillRect/>
          </a:stretch>
        </p:blipFill>
        <p:spPr>
          <a:xfrm>
            <a:off x="4496889" y="1658984"/>
            <a:ext cx="4193177" cy="4624251"/>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hlinkClick r:id="rId2"/>
              </a:rPr>
              <a:t>Mitochondria</a:t>
            </a:r>
            <a:r>
              <a:rPr lang="en-US" dirty="0" smtClean="0"/>
              <a:t> </a:t>
            </a:r>
            <a:endParaRPr lang="en-US" dirty="0"/>
          </a:p>
        </p:txBody>
      </p:sp>
      <p:sp>
        <p:nvSpPr>
          <p:cNvPr id="3" name="Content Placeholder 2"/>
          <p:cNvSpPr>
            <a:spLocks noGrp="1"/>
          </p:cNvSpPr>
          <p:nvPr>
            <p:ph sz="half" idx="1"/>
          </p:nvPr>
        </p:nvSpPr>
        <p:spPr/>
        <p:txBody>
          <a:bodyPr>
            <a:normAutofit fontScale="92500" lnSpcReduction="20000"/>
          </a:bodyPr>
          <a:lstStyle/>
          <a:p>
            <a:r>
              <a:rPr lang="en-US" dirty="0" smtClean="0"/>
              <a:t>Mitochondria produce the </a:t>
            </a:r>
            <a:r>
              <a:rPr lang="en-US" b="1" dirty="0" smtClean="0"/>
              <a:t>energy</a:t>
            </a:r>
            <a:r>
              <a:rPr lang="en-US" dirty="0" smtClean="0"/>
              <a:t> necessary for the cell's survival and functioning. </a:t>
            </a:r>
          </a:p>
          <a:p>
            <a:r>
              <a:rPr lang="en-US" dirty="0" smtClean="0"/>
              <a:t>Through a series of chemical reactions, mitochondria break down glucose into an </a:t>
            </a:r>
            <a:r>
              <a:rPr lang="en-US" b="1" dirty="0" smtClean="0"/>
              <a:t>energy</a:t>
            </a:r>
            <a:r>
              <a:rPr lang="en-US" dirty="0" smtClean="0"/>
              <a:t> molecule known as adenosine </a:t>
            </a:r>
            <a:r>
              <a:rPr lang="en-US" dirty="0" err="1" smtClean="0"/>
              <a:t>triphosphate</a:t>
            </a:r>
            <a:r>
              <a:rPr lang="en-US" dirty="0" smtClean="0"/>
              <a:t> (ATP), which is used to fuel various other cellular processes.</a:t>
            </a:r>
            <a:endParaRPr lang="en-US" dirty="0"/>
          </a:p>
        </p:txBody>
      </p:sp>
      <p:pic>
        <p:nvPicPr>
          <p:cNvPr id="5" name="Content Placeholder 4" descr="6.gif"/>
          <p:cNvPicPr>
            <a:picLocks noGrp="1" noChangeAspect="1"/>
          </p:cNvPicPr>
          <p:nvPr>
            <p:ph sz="half" idx="2"/>
          </p:nvPr>
        </p:nvPicPr>
        <p:blipFill>
          <a:blip r:embed="rId3"/>
          <a:stretch>
            <a:fillRect/>
          </a:stretch>
        </p:blipFill>
        <p:spPr>
          <a:xfrm>
            <a:off x="4643438" y="1449977"/>
            <a:ext cx="4360137" cy="3958046"/>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hlinkClick r:id="rId2"/>
              </a:rPr>
              <a:t>Nucleus</a:t>
            </a:r>
            <a:endParaRPr lang="en-US" dirty="0"/>
          </a:p>
        </p:txBody>
      </p:sp>
      <p:sp>
        <p:nvSpPr>
          <p:cNvPr id="3" name="Content Placeholder 2"/>
          <p:cNvSpPr>
            <a:spLocks noGrp="1"/>
          </p:cNvSpPr>
          <p:nvPr>
            <p:ph idx="1"/>
          </p:nvPr>
        </p:nvSpPr>
        <p:spPr/>
        <p:txBody>
          <a:bodyPr/>
          <a:lstStyle/>
          <a:p>
            <a:r>
              <a:rPr lang="en-US" b="1" dirty="0">
                <a:hlinkClick r:id="rId2"/>
              </a:rPr>
              <a:t>Nucleus</a:t>
            </a:r>
            <a:r>
              <a:rPr lang="en-US" dirty="0"/>
              <a:t> - The nucleus is a highly specialized organelle that serves as the information processing and administrative center of the cell. This organelle has two major functions: it stores the cell's hereditary material, or DNA, and it coordinates the cell's activities, which include growth, intermediary metabolism, protein synthesis, and reproduction (cell division).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1.png"/>
          <p:cNvPicPr>
            <a:picLocks noGrp="1" noChangeAspect="1"/>
          </p:cNvPicPr>
          <p:nvPr>
            <p:ph idx="4294967295"/>
          </p:nvPr>
        </p:nvPicPr>
        <p:blipFill>
          <a:blip r:embed="rId2"/>
          <a:stretch>
            <a:fillRect/>
          </a:stretch>
        </p:blipFill>
        <p:spPr>
          <a:xfrm>
            <a:off x="428596" y="500042"/>
            <a:ext cx="7929618" cy="5548333"/>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Parts of Nucleus</a:t>
            </a:r>
            <a:endParaRPr lang="en-US" dirty="0"/>
          </a:p>
        </p:txBody>
      </p:sp>
      <p:sp>
        <p:nvSpPr>
          <p:cNvPr id="4" name="Text Placeholder 3"/>
          <p:cNvSpPr>
            <a:spLocks noGrp="1"/>
          </p:cNvSpPr>
          <p:nvPr>
            <p:ph type="body" idx="1"/>
          </p:nvPr>
        </p:nvSpPr>
        <p:spPr/>
        <p:txBody>
          <a:bodyPr/>
          <a:lstStyle/>
          <a:p>
            <a:r>
              <a:rPr lang="en-US" dirty="0"/>
              <a:t>Nuclear Envelope</a:t>
            </a:r>
          </a:p>
        </p:txBody>
      </p:sp>
      <p:sp>
        <p:nvSpPr>
          <p:cNvPr id="3" name="Content Placeholder 2"/>
          <p:cNvSpPr>
            <a:spLocks noGrp="1"/>
          </p:cNvSpPr>
          <p:nvPr>
            <p:ph sz="half" idx="2"/>
          </p:nvPr>
        </p:nvSpPr>
        <p:spPr/>
        <p:txBody>
          <a:bodyPr>
            <a:normAutofit/>
          </a:bodyPr>
          <a:lstStyle/>
          <a:p>
            <a:r>
              <a:rPr lang="en-US" b="1" dirty="0"/>
              <a:t> </a:t>
            </a:r>
            <a:r>
              <a:rPr lang="en-US" dirty="0"/>
              <a:t>It bounds the nucleus on the outside. The nuclear envelope separates the nucleus from the cytoplasm. </a:t>
            </a:r>
            <a:r>
              <a:rPr lang="en-US" dirty="0" smtClean="0"/>
              <a:t>Nuclear </a:t>
            </a:r>
            <a:r>
              <a:rPr lang="en-US" dirty="0"/>
              <a:t>envelope contains a large number of pores or perforations </a:t>
            </a:r>
            <a:r>
              <a:rPr lang="en-US" dirty="0" smtClean="0"/>
              <a:t>.</a:t>
            </a:r>
            <a:endParaRPr lang="en-US" dirty="0"/>
          </a:p>
        </p:txBody>
      </p:sp>
      <p:sp>
        <p:nvSpPr>
          <p:cNvPr id="5" name="Text Placeholder 4"/>
          <p:cNvSpPr>
            <a:spLocks noGrp="1"/>
          </p:cNvSpPr>
          <p:nvPr>
            <p:ph type="body" sz="quarter" idx="3"/>
          </p:nvPr>
        </p:nvSpPr>
        <p:spPr/>
        <p:txBody>
          <a:bodyPr/>
          <a:lstStyle/>
          <a:p>
            <a:endParaRPr lang="en-US"/>
          </a:p>
        </p:txBody>
      </p:sp>
      <p:pic>
        <p:nvPicPr>
          <p:cNvPr id="9" name="Content Placeholder 8" descr="2.jpg"/>
          <p:cNvPicPr>
            <a:picLocks noGrp="1" noChangeAspect="1"/>
          </p:cNvPicPr>
          <p:nvPr>
            <p:ph sz="quarter" idx="4"/>
          </p:nvPr>
        </p:nvPicPr>
        <p:blipFill>
          <a:blip r:embed="rId2"/>
          <a:stretch>
            <a:fillRect/>
          </a:stretch>
        </p:blipFill>
        <p:spPr>
          <a:xfrm>
            <a:off x="4572000" y="1500174"/>
            <a:ext cx="4286280" cy="386002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4.jpg"/>
          <p:cNvPicPr>
            <a:picLocks noChangeAspect="1"/>
          </p:cNvPicPr>
          <p:nvPr/>
        </p:nvPicPr>
        <p:blipFill>
          <a:blip r:embed="rId2"/>
          <a:stretch>
            <a:fillRect/>
          </a:stretch>
        </p:blipFill>
        <p:spPr>
          <a:xfrm>
            <a:off x="214282" y="857250"/>
            <a:ext cx="8429684"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3.jpg"/>
          <p:cNvPicPr>
            <a:picLocks noChangeAspect="1"/>
          </p:cNvPicPr>
          <p:nvPr/>
        </p:nvPicPr>
        <p:blipFill>
          <a:blip r:embed="rId2"/>
          <a:stretch>
            <a:fillRect/>
          </a:stretch>
        </p:blipFill>
        <p:spPr>
          <a:xfrm>
            <a:off x="928662" y="857232"/>
            <a:ext cx="7286676" cy="49292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Parts of Nucleus</a:t>
            </a:r>
            <a:endParaRPr lang="en-US" dirty="0"/>
          </a:p>
        </p:txBody>
      </p:sp>
      <p:sp>
        <p:nvSpPr>
          <p:cNvPr id="3" name="Content Placeholder 2"/>
          <p:cNvSpPr>
            <a:spLocks noGrp="1"/>
          </p:cNvSpPr>
          <p:nvPr>
            <p:ph idx="1"/>
          </p:nvPr>
        </p:nvSpPr>
        <p:spPr/>
        <p:txBody>
          <a:bodyPr/>
          <a:lstStyle/>
          <a:p>
            <a:r>
              <a:rPr lang="en-US" b="1" dirty="0" err="1" smtClean="0"/>
              <a:t>Nucleoplasm</a:t>
            </a:r>
            <a:endParaRPr lang="en-US" b="1" dirty="0" smtClean="0"/>
          </a:p>
          <a:p>
            <a:r>
              <a:rPr lang="en-US" b="1" dirty="0"/>
              <a:t> </a:t>
            </a:r>
            <a:r>
              <a:rPr lang="en-US" dirty="0"/>
              <a:t>It is a transparent, </a:t>
            </a:r>
            <a:r>
              <a:rPr lang="en-US" dirty="0" err="1"/>
              <a:t>semifluid</a:t>
            </a:r>
            <a:r>
              <a:rPr lang="en-US" dirty="0"/>
              <a:t> and colloidal substance which fills the nucleus. It contains nucleosides and a number of enzymes (e.g., DNA polymerase, RNA </a:t>
            </a:r>
            <a:r>
              <a:rPr lang="en-US" dirty="0" smtClean="0"/>
              <a:t>polymerase) </a:t>
            </a:r>
            <a:r>
              <a:rPr lang="en-US" dirty="0"/>
              <a:t>which are required for the synthesis and functioning of DNA, RNA, nucleoproteins, etc.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Parts of Nucleus</a:t>
            </a:r>
            <a:endParaRPr lang="en-US" dirty="0"/>
          </a:p>
        </p:txBody>
      </p:sp>
      <p:sp>
        <p:nvSpPr>
          <p:cNvPr id="3" name="Content Placeholder 2"/>
          <p:cNvSpPr>
            <a:spLocks noGrp="1"/>
          </p:cNvSpPr>
          <p:nvPr>
            <p:ph idx="1"/>
          </p:nvPr>
        </p:nvSpPr>
        <p:spPr/>
        <p:txBody>
          <a:bodyPr>
            <a:normAutofit lnSpcReduction="10000"/>
          </a:bodyPr>
          <a:lstStyle/>
          <a:p>
            <a:pPr fontAlgn="base"/>
            <a:r>
              <a:rPr lang="en-US" b="1" dirty="0"/>
              <a:t>Chromatin:</a:t>
            </a:r>
            <a:endParaRPr lang="en-US" dirty="0"/>
          </a:p>
          <a:p>
            <a:pPr fontAlgn="base"/>
            <a:r>
              <a:rPr lang="en-US" dirty="0"/>
              <a:t>It is hereditary DNA-protein </a:t>
            </a:r>
            <a:r>
              <a:rPr lang="en-US" dirty="0" err="1"/>
              <a:t>fibrillar</a:t>
            </a:r>
            <a:r>
              <a:rPr lang="en-US" dirty="0"/>
              <a:t> complex which is named so be­cause of its ability to get stained with certain basic dyes. Chromatin occurs in the form of fine overlapping and coiled </a:t>
            </a:r>
            <a:r>
              <a:rPr lang="en-US" dirty="0" err="1"/>
              <a:t>fibres</a:t>
            </a:r>
            <a:r>
              <a:rPr lang="en-US" dirty="0"/>
              <a:t> which appear to produce a network called chromatin reticulum.</a:t>
            </a:r>
          </a:p>
          <a:p>
            <a:pPr fontAlgn="base"/>
            <a:r>
              <a:rPr lang="en-US" dirty="0"/>
              <a:t>Chromatin </a:t>
            </a:r>
            <a:r>
              <a:rPr lang="en-US" dirty="0" err="1"/>
              <a:t>fibres</a:t>
            </a:r>
            <a:r>
              <a:rPr lang="en-US" dirty="0"/>
              <a:t> are distributed throughout the </a:t>
            </a:r>
            <a:r>
              <a:rPr lang="en-US" dirty="0" err="1"/>
              <a:t>nucleoplasm</a:t>
            </a:r>
            <a:r>
              <a:rPr lang="en-US" dirty="0"/>
              <a: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Parts of Nucleus</a:t>
            </a:r>
            <a:endParaRPr lang="en-US" dirty="0"/>
          </a:p>
        </p:txBody>
      </p:sp>
      <p:sp>
        <p:nvSpPr>
          <p:cNvPr id="3" name="Content Placeholder 2"/>
          <p:cNvSpPr>
            <a:spLocks noGrp="1"/>
          </p:cNvSpPr>
          <p:nvPr>
            <p:ph idx="1"/>
          </p:nvPr>
        </p:nvSpPr>
        <p:spPr/>
        <p:txBody>
          <a:bodyPr>
            <a:normAutofit/>
          </a:bodyPr>
          <a:lstStyle/>
          <a:p>
            <a:pPr fontAlgn="base"/>
            <a:r>
              <a:rPr lang="en-US" dirty="0"/>
              <a:t>They are differentiated into two regions— </a:t>
            </a:r>
            <a:r>
              <a:rPr lang="en-US" dirty="0" err="1"/>
              <a:t>euchromatin</a:t>
            </a:r>
            <a:r>
              <a:rPr lang="en-US" dirty="0"/>
              <a:t> and </a:t>
            </a:r>
            <a:r>
              <a:rPr lang="en-US" dirty="0" smtClean="0"/>
              <a:t>heterochro­matin.</a:t>
            </a:r>
          </a:p>
          <a:p>
            <a:pPr fontAlgn="base"/>
            <a:r>
              <a:rPr lang="en-US" dirty="0" err="1" smtClean="0"/>
              <a:t>Euchromatin</a:t>
            </a:r>
            <a:r>
              <a:rPr lang="en-US" dirty="0" smtClean="0"/>
              <a:t> </a:t>
            </a:r>
            <a:r>
              <a:rPr lang="en-US" dirty="0"/>
              <a:t>is narrow </a:t>
            </a:r>
            <a:r>
              <a:rPr lang="en-US" dirty="0" smtClean="0"/>
              <a:t>lightly </a:t>
            </a:r>
            <a:r>
              <a:rPr lang="en-US" dirty="0"/>
              <a:t>stained and diffused fibrous part which forms the bulk of chromatin.</a:t>
            </a:r>
          </a:p>
          <a:p>
            <a:pPr fontAlgn="base"/>
            <a:r>
              <a:rPr lang="en-US" dirty="0"/>
              <a:t>Heterochromatin is wider </a:t>
            </a:r>
            <a:r>
              <a:rPr lang="en-US" dirty="0" smtClean="0"/>
              <a:t>darkly </a:t>
            </a:r>
            <a:r>
              <a:rPr lang="en-US" dirty="0"/>
              <a:t>stained and condensed granular part which is attached here and there on the </a:t>
            </a:r>
            <a:r>
              <a:rPr lang="en-US" dirty="0" err="1"/>
              <a:t>euchro­matin</a:t>
            </a:r>
            <a:r>
              <a:rPr lang="en-US" dirty="0"/>
              <a:t>.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5.jpg"/>
          <p:cNvPicPr>
            <a:picLocks noGrp="1" noChangeAspect="1"/>
          </p:cNvPicPr>
          <p:nvPr>
            <p:ph idx="4294967295"/>
          </p:nvPr>
        </p:nvPicPr>
        <p:blipFill>
          <a:blip r:embed="rId2"/>
          <a:stretch>
            <a:fillRect/>
          </a:stretch>
        </p:blipFill>
        <p:spPr>
          <a:xfrm>
            <a:off x="1357290" y="1285861"/>
            <a:ext cx="5929354" cy="385764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Parts of Nucleus</a:t>
            </a:r>
            <a:endParaRPr lang="en-US" dirty="0"/>
          </a:p>
        </p:txBody>
      </p:sp>
      <p:sp>
        <p:nvSpPr>
          <p:cNvPr id="3" name="Content Placeholder 2"/>
          <p:cNvSpPr>
            <a:spLocks noGrp="1"/>
          </p:cNvSpPr>
          <p:nvPr>
            <p:ph idx="1"/>
          </p:nvPr>
        </p:nvSpPr>
        <p:spPr/>
        <p:txBody>
          <a:bodyPr/>
          <a:lstStyle/>
          <a:p>
            <a:r>
              <a:rPr lang="en-US" dirty="0" smtClean="0"/>
              <a:t>The whole of chromatin is not functional. Generally only a portion of </a:t>
            </a:r>
            <a:r>
              <a:rPr lang="en-US" dirty="0" err="1" smtClean="0"/>
              <a:t>euchromatin</a:t>
            </a:r>
            <a:r>
              <a:rPr lang="en-US" dirty="0" smtClean="0"/>
              <a:t> which is associated with acid proteins takes part in transcription or formation of RNAs. During prophase of nuclear division, the chromatin </a:t>
            </a:r>
            <a:r>
              <a:rPr lang="en-US" dirty="0" err="1" smtClean="0"/>
              <a:t>fibres</a:t>
            </a:r>
            <a:r>
              <a:rPr lang="en-US" dirty="0" smtClean="0"/>
              <a:t> condense to form a definite number of thread-like structures called chromosomes.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Parts of Nucleus</a:t>
            </a:r>
            <a:endParaRPr lang="en-US" dirty="0"/>
          </a:p>
        </p:txBody>
      </p:sp>
      <p:sp>
        <p:nvSpPr>
          <p:cNvPr id="3" name="Content Placeholder 2"/>
          <p:cNvSpPr>
            <a:spLocks noGrp="1"/>
          </p:cNvSpPr>
          <p:nvPr>
            <p:ph idx="1"/>
          </p:nvPr>
        </p:nvSpPr>
        <p:spPr/>
        <p:txBody>
          <a:bodyPr>
            <a:normAutofit/>
          </a:bodyPr>
          <a:lstStyle/>
          <a:p>
            <a:pPr fontAlgn="base"/>
            <a:r>
              <a:rPr lang="en-US" b="1" dirty="0" smtClean="0"/>
              <a:t>Nucleolus :</a:t>
            </a:r>
            <a:r>
              <a:rPr lang="en-US" dirty="0" smtClean="0"/>
              <a:t>Nucleolus </a:t>
            </a:r>
            <a:r>
              <a:rPr lang="en-US" dirty="0"/>
              <a:t>is a naked, round or slightly irregular structure which is attached to the chromatin at a specific </a:t>
            </a:r>
            <a:r>
              <a:rPr lang="en-US" dirty="0" smtClean="0"/>
              <a:t>region.</a:t>
            </a:r>
            <a:endParaRPr lang="en-US" dirty="0"/>
          </a:p>
          <a:p>
            <a:pPr fontAlgn="base"/>
            <a:r>
              <a:rPr lang="en-US" dirty="0" smtClean="0"/>
              <a:t>A </a:t>
            </a:r>
            <a:r>
              <a:rPr lang="en-US" dirty="0"/>
              <a:t>covering membrane is absent around nucleolus. Calcium seems to be essential for maintaining its configuration. Nucleolus has four components— amorphous matrix, granular part, </a:t>
            </a:r>
            <a:r>
              <a:rPr lang="en-US" dirty="0" err="1"/>
              <a:t>fibrillar</a:t>
            </a:r>
            <a:r>
              <a:rPr lang="en-US" dirty="0"/>
              <a:t> portion and chromatin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Functions of Nucleolus</a:t>
            </a:r>
            <a:endParaRPr lang="en-US" dirty="0"/>
          </a:p>
        </p:txBody>
      </p:sp>
      <p:sp>
        <p:nvSpPr>
          <p:cNvPr id="3" name="Content Placeholder 2"/>
          <p:cNvSpPr>
            <a:spLocks noGrp="1"/>
          </p:cNvSpPr>
          <p:nvPr>
            <p:ph idx="1"/>
          </p:nvPr>
        </p:nvSpPr>
        <p:spPr/>
        <p:txBody>
          <a:bodyPr>
            <a:normAutofit/>
          </a:bodyPr>
          <a:lstStyle/>
          <a:p>
            <a:pPr fontAlgn="base">
              <a:buNone/>
            </a:pPr>
            <a:r>
              <a:rPr lang="en-US" dirty="0"/>
              <a:t>(</a:t>
            </a:r>
            <a:r>
              <a:rPr lang="en-US" dirty="0" err="1"/>
              <a:t>i</a:t>
            </a:r>
            <a:r>
              <a:rPr lang="en-US" dirty="0"/>
              <a:t>) Nucleolus is the principal site for the development of ribosomal RNAs.</a:t>
            </a:r>
          </a:p>
          <a:p>
            <a:pPr fontAlgn="base">
              <a:buNone/>
            </a:pPr>
            <a:r>
              <a:rPr lang="en-US" dirty="0"/>
              <a:t>(ii) It is the centre for the formation of ribosome components,</a:t>
            </a:r>
          </a:p>
          <a:p>
            <a:pPr fontAlgn="base">
              <a:buNone/>
            </a:pPr>
            <a:r>
              <a:rPr lang="en-US" dirty="0"/>
              <a:t>(iii) Nucleolus stores nucleoproteins. The same are </a:t>
            </a:r>
            <a:r>
              <a:rPr lang="en-US" dirty="0" err="1"/>
              <a:t>synthesised</a:t>
            </a:r>
            <a:r>
              <a:rPr lang="en-US" dirty="0"/>
              <a:t> in the cytoplasm (over the </a:t>
            </a:r>
            <a:r>
              <a:rPr lang="en-US" dirty="0" err="1"/>
              <a:t>ribosomes</a:t>
            </a:r>
            <a:r>
              <a:rPr lang="en-US" dirty="0"/>
              <a:t>) and transferred to nucleolus</a:t>
            </a:r>
            <a:r>
              <a:rPr lang="en-US" dirty="0" smtClean="0"/>
              <a: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FUNCTIONS OF NUCLEUS</a:t>
            </a:r>
            <a:endParaRPr lang="en-US" dirty="0"/>
          </a:p>
        </p:txBody>
      </p:sp>
      <p:sp>
        <p:nvSpPr>
          <p:cNvPr id="3" name="Content Placeholder 2"/>
          <p:cNvSpPr>
            <a:spLocks noGrp="1"/>
          </p:cNvSpPr>
          <p:nvPr>
            <p:ph idx="1"/>
          </p:nvPr>
        </p:nvSpPr>
        <p:spPr/>
        <p:txBody>
          <a:bodyPr>
            <a:normAutofit fontScale="92500"/>
          </a:bodyPr>
          <a:lstStyle/>
          <a:p>
            <a:r>
              <a:rPr lang="en-US" dirty="0"/>
              <a:t>Nucleus is an essential and integral part of the eukaryote cell. It stores genetic information in its DNA molecules which can be passed on to daughter cells. It also controls cellular activities</a:t>
            </a:r>
            <a:r>
              <a:rPr lang="en-US" dirty="0" smtClean="0"/>
              <a:t>.</a:t>
            </a:r>
            <a:r>
              <a:rPr lang="en-US" dirty="0"/>
              <a:t> </a:t>
            </a:r>
            <a:endParaRPr lang="en-US" dirty="0" smtClean="0"/>
          </a:p>
          <a:p>
            <a:r>
              <a:rPr lang="en-US" dirty="0" smtClean="0"/>
              <a:t>Nucleus </a:t>
            </a:r>
            <a:r>
              <a:rPr lang="en-US" dirty="0"/>
              <a:t>contains hereditary material called chromatin. Chromatin is DNA- protein complex. It is made of a number of fine </a:t>
            </a:r>
            <a:r>
              <a:rPr lang="en-US" dirty="0" err="1"/>
              <a:t>fibres</a:t>
            </a:r>
            <a:r>
              <a:rPr lang="en-US" dirty="0"/>
              <a:t> that condense to form chromosomes. Number of chromosomes is fixed for a species. They bear genes.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FUNCTIONS OF NUCLEUS</a:t>
            </a:r>
            <a:endParaRPr lang="en-US" dirty="0"/>
          </a:p>
        </p:txBody>
      </p:sp>
      <p:sp>
        <p:nvSpPr>
          <p:cNvPr id="3" name="Content Placeholder 2"/>
          <p:cNvSpPr>
            <a:spLocks noGrp="1"/>
          </p:cNvSpPr>
          <p:nvPr>
            <p:ph idx="1"/>
          </p:nvPr>
        </p:nvSpPr>
        <p:spPr/>
        <p:txBody>
          <a:bodyPr>
            <a:normAutofit/>
          </a:bodyPr>
          <a:lstStyle/>
          <a:p>
            <a:r>
              <a:rPr lang="en-US" dirty="0"/>
              <a:t>Chromatin part of nucleus possesses all the genetic information that is required for growth and development of the organism, its reproduction, metabolism and </a:t>
            </a:r>
            <a:r>
              <a:rPr lang="en-US" dirty="0" err="1"/>
              <a:t>behaviour</a:t>
            </a:r>
            <a:r>
              <a:rPr lang="en-US" dirty="0" smtClean="0"/>
              <a:t>.</a:t>
            </a:r>
          </a:p>
          <a:p>
            <a:r>
              <a:rPr lang="en-US" dirty="0"/>
              <a:t>Nucleus controls cell metabolism and other activities through the formation of RNAs (mRNA, </a:t>
            </a:r>
            <a:r>
              <a:rPr lang="en-US" dirty="0" err="1"/>
              <a:t>rRNA</a:t>
            </a:r>
            <a:r>
              <a:rPr lang="en-US" dirty="0"/>
              <a:t>, </a:t>
            </a:r>
            <a:r>
              <a:rPr lang="en-US" dirty="0" err="1"/>
              <a:t>tRNA</a:t>
            </a:r>
            <a:r>
              <a:rPr lang="en-US" dirty="0"/>
              <a:t>) which control synthesis of particular type of enzymes.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FUNCTIONS OF NUCLEUS</a:t>
            </a:r>
            <a:endParaRPr lang="en-US" dirty="0"/>
          </a:p>
        </p:txBody>
      </p:sp>
      <p:sp>
        <p:nvSpPr>
          <p:cNvPr id="3" name="Content Placeholder 2"/>
          <p:cNvSpPr>
            <a:spLocks noGrp="1"/>
          </p:cNvSpPr>
          <p:nvPr>
            <p:ph idx="1"/>
          </p:nvPr>
        </p:nvSpPr>
        <p:spPr/>
        <p:txBody>
          <a:bodyPr>
            <a:normAutofit/>
          </a:bodyPr>
          <a:lstStyle/>
          <a:p>
            <a:r>
              <a:rPr lang="en-US" dirty="0" err="1"/>
              <a:t>Ribosomes</a:t>
            </a:r>
            <a:r>
              <a:rPr lang="en-US" dirty="0"/>
              <a:t> are formed in nucleolus part of the nucleus.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440</Words>
  <Application>Microsoft Office PowerPoint</Application>
  <PresentationFormat>On-screen Show (4:3)</PresentationFormat>
  <Paragraphs>40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Mitochondria </vt:lpstr>
      <vt:lpstr>Mitochondria </vt:lpstr>
      <vt:lpstr>Nucleus</vt:lpstr>
      <vt:lpstr>Slide 4</vt:lpstr>
      <vt:lpstr>Parts of Nucleus</vt:lpstr>
      <vt:lpstr>Slide 6</vt:lpstr>
      <vt:lpstr>Slide 7</vt:lpstr>
      <vt:lpstr>Parts of Nucleus</vt:lpstr>
      <vt:lpstr>Parts of Nucleus</vt:lpstr>
      <vt:lpstr>Parts of Nucleus</vt:lpstr>
      <vt:lpstr>Slide 11</vt:lpstr>
      <vt:lpstr>Parts of Nucleus</vt:lpstr>
      <vt:lpstr>Parts of Nucleus</vt:lpstr>
      <vt:lpstr>Functions of Nucleolus</vt:lpstr>
      <vt:lpstr>FUNCTIONS OF NUCLEUS</vt:lpstr>
      <vt:lpstr>FUNCTIONS OF NUCLEUS</vt:lpstr>
      <vt:lpstr>FUNCTIONS OF NUCLEUS</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Mitochondria</dc:title>
  <dc:creator>harsha</dc:creator>
  <cp:lastModifiedBy>harsha</cp:lastModifiedBy>
  <cp:revision>5</cp:revision>
  <dcterms:created xsi:type="dcterms:W3CDTF">2020-08-25T05:16:42Z</dcterms:created>
  <dcterms:modified xsi:type="dcterms:W3CDTF">2020-08-25T06:09:47Z</dcterms:modified>
</cp:coreProperties>
</file>